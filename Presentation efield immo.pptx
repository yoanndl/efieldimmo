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DM Sans" pitchFamily="2" charset="0"/>
      <p:regular r:id="rId13"/>
    </p:embeddedFont>
    <p:embeddedFont>
      <p:font typeface="Libre Baskerville" panose="02000000000000000000" pitchFamily="50" charset="0"/>
      <p:regular r:id="rId14"/>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457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DFA"/>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DFA"/>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5C4E3D"/>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DFA"/>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DFA"/>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DFA"/>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DFA"/>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7EDD4"/>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DFA"/>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04C8E"/>
          </a:solidFill>
          <a:ln/>
        </p:spPr>
        <p:txBody>
          <a:bodyPr/>
          <a:lstStyle/>
          <a:p>
            <a:endParaRPr lang="fr-FR"/>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96119" y="1520949"/>
            <a:ext cx="8151763" cy="885974"/>
          </a:xfrm>
          <a:prstGeom prst="rect">
            <a:avLst/>
          </a:prstGeom>
          <a:noFill/>
          <a:ln/>
        </p:spPr>
        <p:txBody>
          <a:bodyPr wrap="square" lIns="0" tIns="0" rIns="0" bIns="0" rtlCol="0" anchor="t">
            <a:normAutofit/>
          </a:bodyPr>
          <a:lstStyle/>
          <a:p>
            <a:pPr marL="0" indent="0" algn="ctr">
              <a:lnSpc>
                <a:spcPct val="104000"/>
              </a:lnSpc>
              <a:buNone/>
            </a:pPr>
            <a:r>
              <a:rPr lang="en-US" sz="2750" b="1" dirty="0">
                <a:solidFill>
                  <a:srgbClr val="FFFDFA"/>
                </a:solidFill>
                <a:latin typeface="Libre Baskerville" pitchFamily="34" charset="0"/>
                <a:ea typeface="Libre Baskerville" pitchFamily="34" charset="-122"/>
                <a:cs typeface="Libre Baskerville" pitchFamily="34" charset="-120"/>
              </a:rPr>
              <a:t>Donnez vie à votre </a:t>
            </a:r>
            <a:r>
              <a:rPr lang="en-US" sz="2750" b="1" dirty="0" err="1">
                <a:solidFill>
                  <a:srgbClr val="FFFDFA"/>
                </a:solidFill>
                <a:latin typeface="Libre Baskerville" pitchFamily="34" charset="0"/>
                <a:ea typeface="Libre Baskerville" pitchFamily="34" charset="-122"/>
                <a:cs typeface="Libre Baskerville" pitchFamily="34" charset="-120"/>
              </a:rPr>
              <a:t>projet</a:t>
            </a:r>
            <a:r>
              <a:rPr lang="en-US" sz="2750" b="1" dirty="0">
                <a:solidFill>
                  <a:srgbClr val="FFFDFA"/>
                </a:solidFill>
                <a:latin typeface="Libre Baskerville" pitchFamily="34" charset="0"/>
                <a:ea typeface="Libre Baskerville" pitchFamily="34" charset="-122"/>
                <a:cs typeface="Libre Baskerville" pitchFamily="34" charset="-120"/>
              </a:rPr>
              <a:t> </a:t>
            </a:r>
            <a:r>
              <a:rPr lang="en-US" sz="2750" b="1" dirty="0" err="1">
                <a:solidFill>
                  <a:srgbClr val="FFFDFA"/>
                </a:solidFill>
                <a:latin typeface="Libre Baskerville" pitchFamily="34" charset="0"/>
                <a:ea typeface="Libre Baskerville" pitchFamily="34" charset="-122"/>
                <a:cs typeface="Libre Baskerville" pitchFamily="34" charset="-120"/>
              </a:rPr>
              <a:t>immobilier</a:t>
            </a:r>
            <a:r>
              <a:rPr lang="en-US" sz="2750" b="1" dirty="0">
                <a:solidFill>
                  <a:srgbClr val="FFFDFA"/>
                </a:solidFill>
                <a:latin typeface="Libre Baskerville" pitchFamily="34" charset="0"/>
                <a:ea typeface="Libre Baskerville" pitchFamily="34" charset="-122"/>
                <a:cs typeface="Libre Baskerville" pitchFamily="34" charset="-120"/>
              </a:rPr>
              <a:t>         à l'île Maurice [ video 1:27:20 à 1:28:00]</a:t>
            </a:r>
            <a:endParaRPr lang="en-US" sz="2750" dirty="0"/>
          </a:p>
        </p:txBody>
      </p:sp>
      <p:sp>
        <p:nvSpPr>
          <p:cNvPr id="4" name="Text 1"/>
          <p:cNvSpPr/>
          <p:nvPr/>
        </p:nvSpPr>
        <p:spPr>
          <a:xfrm>
            <a:off x="496119" y="2619524"/>
            <a:ext cx="8151763"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FFFDFA"/>
                </a:solidFill>
                <a:latin typeface="DM Sans" pitchFamily="34" charset="0"/>
                <a:ea typeface="DM Sans" pitchFamily="34" charset="-122"/>
                <a:cs typeface="DM Sans" pitchFamily="34" charset="-120"/>
              </a:rPr>
              <a:t>Que vous souhaitiez acheter un terrain, investir ou développer un projet, nous vous accompagnons à chaque étape avec expertise et transparence. Terrains, morcellements, construction et accompagnement sur mesure pour locaux et expatriés.</a:t>
            </a:r>
            <a:endParaRPr lang="en-US" sz="1100" dirty="0"/>
          </a:p>
        </p:txBody>
      </p:sp>
      <p:pic>
        <p:nvPicPr>
          <p:cNvPr id="5" name="Image 1" descr="preencoded.png">
            <a:hlinkClick r:id="" action="ppaction://noaction"/>
          </p:cNvPr>
          <p:cNvPicPr>
            <a:picLocks noChangeAspect="1"/>
          </p:cNvPicPr>
          <p:nvPr/>
        </p:nvPicPr>
        <p:blipFill>
          <a:blip r:embed="rId4"/>
          <a:stretch>
            <a:fillRect/>
          </a:stretch>
        </p:blipFill>
        <p:spPr>
          <a:xfrm>
            <a:off x="2200498" y="3232621"/>
            <a:ext cx="1399877" cy="389855"/>
          </a:xfrm>
          <a:prstGeom prst="rect">
            <a:avLst/>
          </a:prstGeom>
        </p:spPr>
      </p:pic>
      <p:pic>
        <p:nvPicPr>
          <p:cNvPr id="6" name="Image 2" descr="preencoded.png">
            <a:hlinkClick r:id="" action="ppaction://noaction"/>
          </p:cNvPr>
          <p:cNvPicPr>
            <a:picLocks noChangeAspect="1"/>
          </p:cNvPicPr>
          <p:nvPr/>
        </p:nvPicPr>
        <p:blipFill>
          <a:blip r:embed="rId5"/>
          <a:stretch>
            <a:fillRect/>
          </a:stretch>
        </p:blipFill>
        <p:spPr>
          <a:xfrm>
            <a:off x="3671218" y="3232621"/>
            <a:ext cx="1570583" cy="389855"/>
          </a:xfrm>
          <a:prstGeom prst="rect">
            <a:avLst/>
          </a:prstGeom>
        </p:spPr>
      </p:pic>
      <p:pic>
        <p:nvPicPr>
          <p:cNvPr id="7" name="Image 3" descr="preencoded.png"/>
          <p:cNvPicPr>
            <a:picLocks noChangeAspect="1"/>
          </p:cNvPicPr>
          <p:nvPr/>
        </p:nvPicPr>
        <p:blipFill>
          <a:blip r:embed="rId6"/>
          <a:stretch>
            <a:fillRect/>
          </a:stretch>
        </p:blipFill>
        <p:spPr>
          <a:xfrm>
            <a:off x="5312643" y="3232621"/>
            <a:ext cx="1630859" cy="3898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65162" y="387251"/>
            <a:ext cx="1019696" cy="253901"/>
          </a:xfrm>
          <a:prstGeom prst="roundRect">
            <a:avLst>
              <a:gd name="adj" fmla="val 17588"/>
            </a:avLst>
          </a:prstGeom>
          <a:noFill/>
          <a:ln w="4763">
            <a:solidFill>
              <a:srgbClr val="B6A062"/>
            </a:solidFill>
            <a:prstDash val="solid"/>
          </a:ln>
        </p:spPr>
        <p:txBody>
          <a:bodyPr/>
          <a:lstStyle/>
          <a:p>
            <a:endParaRPr lang="fr-FR"/>
          </a:p>
        </p:txBody>
      </p:sp>
      <p:sp>
        <p:nvSpPr>
          <p:cNvPr id="3" name="Text 1"/>
          <p:cNvSpPr/>
          <p:nvPr/>
        </p:nvSpPr>
        <p:spPr>
          <a:xfrm>
            <a:off x="549622" y="431825"/>
            <a:ext cx="1307976" cy="164753"/>
          </a:xfrm>
          <a:prstGeom prst="rect">
            <a:avLst/>
          </a:prstGeom>
          <a:noFill/>
          <a:ln/>
        </p:spPr>
        <p:txBody>
          <a:bodyPr wrap="none" lIns="0" tIns="0" rIns="0" bIns="0" rtlCol="0" anchor="t"/>
          <a:lstStyle/>
          <a:p>
            <a:pPr marL="0" indent="0" algn="l">
              <a:lnSpc>
                <a:spcPct val="129000"/>
              </a:lnSpc>
              <a:buNone/>
            </a:pPr>
            <a:r>
              <a:rPr lang="en-US" sz="800" dirty="0">
                <a:solidFill>
                  <a:srgbClr val="B6A062"/>
                </a:solidFill>
                <a:latin typeface="DM Sans" pitchFamily="34" charset="0"/>
                <a:ea typeface="DM Sans" pitchFamily="34" charset="-122"/>
                <a:cs typeface="DM Sans" pitchFamily="34" charset="-120"/>
              </a:rPr>
              <a:t>POURQUOI NOUS</a:t>
            </a:r>
            <a:endParaRPr lang="en-US" sz="800" dirty="0"/>
          </a:p>
        </p:txBody>
      </p:sp>
      <p:sp>
        <p:nvSpPr>
          <p:cNvPr id="4" name="Text 2"/>
          <p:cNvSpPr/>
          <p:nvPr/>
        </p:nvSpPr>
        <p:spPr>
          <a:xfrm>
            <a:off x="1604962" y="690935"/>
            <a:ext cx="5705401" cy="332259"/>
          </a:xfrm>
          <a:prstGeom prst="rect">
            <a:avLst/>
          </a:prstGeom>
          <a:noFill/>
          <a:ln/>
        </p:spPr>
        <p:txBody>
          <a:bodyPr wrap="none" lIns="0" tIns="0" rIns="0" bIns="0" rtlCol="0" anchor="t"/>
          <a:lstStyle/>
          <a:p>
            <a:pPr marL="0" indent="0" algn="ctr">
              <a:lnSpc>
                <a:spcPct val="104000"/>
              </a:lnSpc>
              <a:buNone/>
            </a:pPr>
            <a:r>
              <a:rPr lang="en-US" sz="2050" dirty="0">
                <a:solidFill>
                  <a:srgbClr val="5C4E3D"/>
                </a:solidFill>
                <a:latin typeface="Libre Baskerville" pitchFamily="34" charset="0"/>
                <a:ea typeface="Libre Baskerville" pitchFamily="34" charset="-122"/>
                <a:cs typeface="Libre Baskerville" pitchFamily="34" charset="-120"/>
              </a:rPr>
              <a:t>L'immobilier à Maurice, un projet de vie</a:t>
            </a:r>
            <a:endParaRPr lang="en-US" sz="2050" dirty="0"/>
          </a:p>
        </p:txBody>
      </p:sp>
      <p:sp>
        <p:nvSpPr>
          <p:cNvPr id="5" name="Text 3"/>
          <p:cNvSpPr/>
          <p:nvPr/>
        </p:nvSpPr>
        <p:spPr>
          <a:xfrm>
            <a:off x="465162" y="1210047"/>
            <a:ext cx="8213675" cy="411956"/>
          </a:xfrm>
          <a:prstGeom prst="rect">
            <a:avLst/>
          </a:prstGeom>
          <a:noFill/>
          <a:ln/>
        </p:spPr>
        <p:txBody>
          <a:bodyPr wrap="square" lIns="0" tIns="0" rIns="0" bIns="0" rtlCol="0" anchor="t">
            <a:normAutofit/>
          </a:bodyPr>
          <a:lstStyle/>
          <a:p>
            <a:pPr marL="0" indent="0" algn="ctr">
              <a:lnSpc>
                <a:spcPct val="129000"/>
              </a:lnSpc>
              <a:buNone/>
            </a:pPr>
            <a:r>
              <a:rPr lang="en-US" sz="1000" dirty="0">
                <a:solidFill>
                  <a:srgbClr val="454240"/>
                </a:solidFill>
                <a:latin typeface="DM Sans" pitchFamily="34" charset="0"/>
                <a:ea typeface="DM Sans" pitchFamily="34" charset="-122"/>
                <a:cs typeface="DM Sans" pitchFamily="34" charset="-120"/>
              </a:rPr>
              <a:t>L'immobilier à Maurice ne se résume pas à un simple achat. C'est un projet de vie, un investissement stratégique et une opportunité unique. Nous sommes là pour le concrétiser avec vous, à chaque étape et en toute transparence.</a:t>
            </a:r>
            <a:endParaRPr lang="en-US" sz="1000" dirty="0"/>
          </a:p>
        </p:txBody>
      </p:sp>
      <p:sp>
        <p:nvSpPr>
          <p:cNvPr id="6" name="Shape 4"/>
          <p:cNvSpPr/>
          <p:nvPr/>
        </p:nvSpPr>
        <p:spPr>
          <a:xfrm>
            <a:off x="465162" y="1762125"/>
            <a:ext cx="4044553" cy="1434778"/>
          </a:xfrm>
          <a:prstGeom prst="roundRect">
            <a:avLst>
              <a:gd name="adj" fmla="val 3891"/>
            </a:avLst>
          </a:prstGeom>
          <a:solidFill>
            <a:srgbClr val="F7EDD4"/>
          </a:solidFill>
          <a:ln w="4763">
            <a:solidFill>
              <a:srgbClr val="DDD3BA"/>
            </a:solidFill>
            <a:prstDash val="solid"/>
          </a:ln>
        </p:spPr>
        <p:txBody>
          <a:bodyPr/>
          <a:lstStyle/>
          <a:p>
            <a:endParaRPr lang="fr-FR"/>
          </a:p>
        </p:txBody>
      </p:sp>
      <p:sp>
        <p:nvSpPr>
          <p:cNvPr id="7" name="Text 5"/>
          <p:cNvSpPr/>
          <p:nvPr/>
        </p:nvSpPr>
        <p:spPr>
          <a:xfrm>
            <a:off x="597471" y="1899791"/>
            <a:ext cx="3551262" cy="415305"/>
          </a:xfrm>
          <a:prstGeom prst="rect">
            <a:avLst/>
          </a:prstGeom>
          <a:noFill/>
          <a:ln/>
        </p:spPr>
        <p:txBody>
          <a:bodyPr wrap="none" lIns="0" tIns="0" rIns="0" bIns="0" rtlCol="0" anchor="t"/>
          <a:lstStyle/>
          <a:p>
            <a:pPr marL="0" indent="0" algn="ctr">
              <a:lnSpc>
                <a:spcPct val="104000"/>
              </a:lnSpc>
              <a:buNone/>
            </a:pPr>
            <a:r>
              <a:rPr lang="en-US" sz="2600" b="1" dirty="0">
                <a:solidFill>
                  <a:srgbClr val="000000"/>
                </a:solidFill>
                <a:latin typeface="Libre Baskerville" pitchFamily="34" charset="0"/>
                <a:ea typeface="Libre Baskerville" pitchFamily="34" charset="-122"/>
                <a:cs typeface="Libre Baskerville" pitchFamily="34" charset="-120"/>
              </a:rPr>
              <a:t>150 + </a:t>
            </a:r>
            <a:endParaRPr lang="en-US" sz="2600" dirty="0"/>
          </a:p>
        </p:txBody>
      </p:sp>
      <p:sp>
        <p:nvSpPr>
          <p:cNvPr id="8" name="Text 6"/>
          <p:cNvSpPr/>
          <p:nvPr/>
        </p:nvSpPr>
        <p:spPr>
          <a:xfrm>
            <a:off x="1428155" y="2364879"/>
            <a:ext cx="1889894" cy="207690"/>
          </a:xfrm>
          <a:prstGeom prst="rect">
            <a:avLst/>
          </a:prstGeom>
          <a:noFill/>
          <a:ln/>
        </p:spPr>
        <p:txBody>
          <a:bodyPr wrap="none" lIns="0" tIns="0" rIns="0" bIns="0" rtlCol="0" anchor="t"/>
          <a:lstStyle/>
          <a:p>
            <a:pPr marL="0" indent="0" algn="ctr">
              <a:lnSpc>
                <a:spcPct val="104000"/>
              </a:lnSpc>
              <a:buNone/>
            </a:pPr>
            <a:r>
              <a:rPr lang="en-US" sz="1300" dirty="0">
                <a:solidFill>
                  <a:srgbClr val="000000"/>
                </a:solidFill>
                <a:latin typeface="Libre Baskerville" pitchFamily="34" charset="0"/>
                <a:ea typeface="Libre Baskerville" pitchFamily="34" charset="-122"/>
                <a:cs typeface="Libre Baskerville" pitchFamily="34" charset="-120"/>
              </a:rPr>
              <a:t>Projets réalisés</a:t>
            </a:r>
            <a:endParaRPr lang="en-US" sz="1300" dirty="0"/>
          </a:p>
        </p:txBody>
      </p:sp>
      <p:sp>
        <p:nvSpPr>
          <p:cNvPr id="9" name="Text 7"/>
          <p:cNvSpPr/>
          <p:nvPr/>
        </p:nvSpPr>
        <p:spPr>
          <a:xfrm>
            <a:off x="602828" y="2647280"/>
            <a:ext cx="3769221" cy="411956"/>
          </a:xfrm>
          <a:prstGeom prst="rect">
            <a:avLst/>
          </a:prstGeom>
          <a:noFill/>
          <a:ln/>
        </p:spPr>
        <p:txBody>
          <a:bodyPr wrap="square" lIns="0" tIns="0" rIns="0" bIns="0" rtlCol="0" anchor="t">
            <a:normAutofit/>
          </a:bodyPr>
          <a:lstStyle/>
          <a:p>
            <a:pPr marL="0" indent="0" algn="ctr">
              <a:lnSpc>
                <a:spcPct val="129000"/>
              </a:lnSpc>
              <a:buNone/>
            </a:pPr>
            <a:r>
              <a:rPr lang="en-US" sz="1000" dirty="0">
                <a:solidFill>
                  <a:srgbClr val="000000"/>
                </a:solidFill>
                <a:latin typeface="DM Sans" pitchFamily="34" charset="0"/>
                <a:ea typeface="DM Sans" pitchFamily="34" charset="-122"/>
                <a:cs typeface="DM Sans" pitchFamily="34" charset="-120"/>
              </a:rPr>
              <a:t>Des dizaines de familles, d'investisseurs locaux et d'expatriés ont concrétisé leur rêve avec nous.</a:t>
            </a:r>
            <a:endParaRPr lang="en-US" sz="1000" dirty="0"/>
          </a:p>
        </p:txBody>
      </p:sp>
      <p:sp>
        <p:nvSpPr>
          <p:cNvPr id="10" name="Shape 8"/>
          <p:cNvSpPr/>
          <p:nvPr/>
        </p:nvSpPr>
        <p:spPr>
          <a:xfrm>
            <a:off x="4634285" y="1762125"/>
            <a:ext cx="4044553" cy="1434778"/>
          </a:xfrm>
          <a:prstGeom prst="roundRect">
            <a:avLst>
              <a:gd name="adj" fmla="val 3891"/>
            </a:avLst>
          </a:prstGeom>
          <a:solidFill>
            <a:srgbClr val="F7EDD4"/>
          </a:solidFill>
          <a:ln w="4763">
            <a:solidFill>
              <a:srgbClr val="DDD3BA"/>
            </a:solidFill>
            <a:prstDash val="solid"/>
          </a:ln>
        </p:spPr>
        <p:txBody>
          <a:bodyPr/>
          <a:lstStyle/>
          <a:p>
            <a:endParaRPr lang="fr-FR"/>
          </a:p>
        </p:txBody>
      </p:sp>
      <p:sp>
        <p:nvSpPr>
          <p:cNvPr id="11" name="Text 9"/>
          <p:cNvSpPr/>
          <p:nvPr/>
        </p:nvSpPr>
        <p:spPr>
          <a:xfrm>
            <a:off x="4766593" y="1899791"/>
            <a:ext cx="3551262" cy="415305"/>
          </a:xfrm>
          <a:prstGeom prst="rect">
            <a:avLst/>
          </a:prstGeom>
          <a:noFill/>
          <a:ln/>
        </p:spPr>
        <p:txBody>
          <a:bodyPr wrap="none" lIns="0" tIns="0" rIns="0" bIns="0" rtlCol="0" anchor="t"/>
          <a:lstStyle/>
          <a:p>
            <a:pPr marL="0" indent="0" algn="ctr">
              <a:lnSpc>
                <a:spcPct val="104000"/>
              </a:lnSpc>
              <a:buNone/>
            </a:pPr>
            <a:r>
              <a:rPr lang="en-US" sz="2600" b="1" dirty="0">
                <a:solidFill>
                  <a:srgbClr val="000000"/>
                </a:solidFill>
                <a:latin typeface="Libre Baskerville" pitchFamily="34" charset="0"/>
                <a:ea typeface="Libre Baskerville" pitchFamily="34" charset="-122"/>
                <a:cs typeface="Libre Baskerville" pitchFamily="34" charset="-120"/>
              </a:rPr>
              <a:t>15 +</a:t>
            </a:r>
            <a:endParaRPr lang="en-US" sz="2600" dirty="0"/>
          </a:p>
        </p:txBody>
      </p:sp>
      <p:sp>
        <p:nvSpPr>
          <p:cNvPr id="12" name="Text 10"/>
          <p:cNvSpPr/>
          <p:nvPr/>
        </p:nvSpPr>
        <p:spPr>
          <a:xfrm>
            <a:off x="5597277" y="2364879"/>
            <a:ext cx="1889894" cy="207690"/>
          </a:xfrm>
          <a:prstGeom prst="rect">
            <a:avLst/>
          </a:prstGeom>
          <a:noFill/>
          <a:ln/>
        </p:spPr>
        <p:txBody>
          <a:bodyPr wrap="none" lIns="0" tIns="0" rIns="0" bIns="0" rtlCol="0" anchor="t"/>
          <a:lstStyle/>
          <a:p>
            <a:pPr marL="0" indent="0" algn="ctr">
              <a:lnSpc>
                <a:spcPct val="104000"/>
              </a:lnSpc>
              <a:buNone/>
            </a:pPr>
            <a:r>
              <a:rPr lang="en-US" sz="1300" dirty="0">
                <a:solidFill>
                  <a:srgbClr val="000000"/>
                </a:solidFill>
                <a:latin typeface="Libre Baskerville" pitchFamily="34" charset="0"/>
                <a:ea typeface="Libre Baskerville" pitchFamily="34" charset="-122"/>
                <a:cs typeface="Libre Baskerville" pitchFamily="34" charset="-120"/>
              </a:rPr>
              <a:t>Années d'expertise</a:t>
            </a:r>
            <a:endParaRPr lang="en-US" sz="1300" dirty="0"/>
          </a:p>
        </p:txBody>
      </p:sp>
      <p:sp>
        <p:nvSpPr>
          <p:cNvPr id="13" name="Text 11"/>
          <p:cNvSpPr/>
          <p:nvPr/>
        </p:nvSpPr>
        <p:spPr>
          <a:xfrm>
            <a:off x="4771951" y="2647280"/>
            <a:ext cx="3769221" cy="411956"/>
          </a:xfrm>
          <a:prstGeom prst="rect">
            <a:avLst/>
          </a:prstGeom>
          <a:noFill/>
          <a:ln/>
        </p:spPr>
        <p:txBody>
          <a:bodyPr wrap="square" lIns="0" tIns="0" rIns="0" bIns="0" rtlCol="0" anchor="t">
            <a:normAutofit/>
          </a:bodyPr>
          <a:lstStyle/>
          <a:p>
            <a:pPr marL="0" indent="0" algn="ctr">
              <a:lnSpc>
                <a:spcPct val="129000"/>
              </a:lnSpc>
              <a:buNone/>
            </a:pPr>
            <a:r>
              <a:rPr lang="en-US" sz="1000" dirty="0">
                <a:solidFill>
                  <a:srgbClr val="000000"/>
                </a:solidFill>
                <a:latin typeface="DM Sans" pitchFamily="34" charset="0"/>
                <a:ea typeface="DM Sans" pitchFamily="34" charset="-122"/>
                <a:cs typeface="DM Sans" pitchFamily="34" charset="-120"/>
              </a:rPr>
              <a:t>Une connaissance approfondie du marché immobilier mauricien, de ses opportunités et de ses spécificités.</a:t>
            </a:r>
            <a:endParaRPr lang="en-US" sz="1000" dirty="0"/>
          </a:p>
        </p:txBody>
      </p:sp>
      <p:sp>
        <p:nvSpPr>
          <p:cNvPr id="14" name="Shape 12"/>
          <p:cNvSpPr/>
          <p:nvPr/>
        </p:nvSpPr>
        <p:spPr>
          <a:xfrm>
            <a:off x="465162" y="3321472"/>
            <a:ext cx="4044553" cy="1434778"/>
          </a:xfrm>
          <a:prstGeom prst="roundRect">
            <a:avLst>
              <a:gd name="adj" fmla="val 3891"/>
            </a:avLst>
          </a:prstGeom>
          <a:solidFill>
            <a:srgbClr val="F7EDD4"/>
          </a:solidFill>
          <a:ln w="4763">
            <a:solidFill>
              <a:srgbClr val="DDD3BA"/>
            </a:solidFill>
            <a:prstDash val="solid"/>
          </a:ln>
        </p:spPr>
        <p:txBody>
          <a:bodyPr/>
          <a:lstStyle/>
          <a:p>
            <a:endParaRPr lang="fr-FR"/>
          </a:p>
        </p:txBody>
      </p:sp>
      <p:sp>
        <p:nvSpPr>
          <p:cNvPr id="15" name="Text 13"/>
          <p:cNvSpPr/>
          <p:nvPr/>
        </p:nvSpPr>
        <p:spPr>
          <a:xfrm>
            <a:off x="597471" y="3459138"/>
            <a:ext cx="3551262" cy="415305"/>
          </a:xfrm>
          <a:prstGeom prst="rect">
            <a:avLst/>
          </a:prstGeom>
          <a:noFill/>
          <a:ln/>
        </p:spPr>
        <p:txBody>
          <a:bodyPr wrap="none" lIns="0" tIns="0" rIns="0" bIns="0" rtlCol="0" anchor="t"/>
          <a:lstStyle/>
          <a:p>
            <a:pPr marL="0" indent="0" algn="ctr">
              <a:lnSpc>
                <a:spcPct val="104000"/>
              </a:lnSpc>
              <a:buNone/>
            </a:pPr>
            <a:r>
              <a:rPr lang="en-US" sz="2600" b="1" dirty="0">
                <a:solidFill>
                  <a:srgbClr val="000000"/>
                </a:solidFill>
                <a:latin typeface="Libre Baskerville" pitchFamily="34" charset="0"/>
                <a:ea typeface="Libre Baskerville" pitchFamily="34" charset="-122"/>
                <a:cs typeface="Libre Baskerville" pitchFamily="34" charset="-120"/>
              </a:rPr>
              <a:t>100 %</a:t>
            </a:r>
            <a:endParaRPr lang="en-US" sz="2600" dirty="0"/>
          </a:p>
        </p:txBody>
      </p:sp>
      <p:sp>
        <p:nvSpPr>
          <p:cNvPr id="16" name="Text 14"/>
          <p:cNvSpPr/>
          <p:nvPr/>
        </p:nvSpPr>
        <p:spPr>
          <a:xfrm>
            <a:off x="1243385" y="3924226"/>
            <a:ext cx="2259434" cy="207690"/>
          </a:xfrm>
          <a:prstGeom prst="rect">
            <a:avLst/>
          </a:prstGeom>
          <a:noFill/>
          <a:ln/>
        </p:spPr>
        <p:txBody>
          <a:bodyPr wrap="none" lIns="0" tIns="0" rIns="0" bIns="0" rtlCol="0" anchor="t"/>
          <a:lstStyle/>
          <a:p>
            <a:pPr marL="0" indent="0" algn="ctr">
              <a:lnSpc>
                <a:spcPct val="104000"/>
              </a:lnSpc>
              <a:buNone/>
            </a:pPr>
            <a:r>
              <a:rPr lang="en-US" sz="1300" dirty="0">
                <a:solidFill>
                  <a:srgbClr val="000000"/>
                </a:solidFill>
                <a:latin typeface="Libre Baskerville" pitchFamily="34" charset="0"/>
                <a:ea typeface="Libre Baskerville" pitchFamily="34" charset="-122"/>
                <a:cs typeface="Libre Baskerville" pitchFamily="34" charset="-120"/>
              </a:rPr>
              <a:t>Accompagnement A à Z</a:t>
            </a:r>
            <a:endParaRPr lang="en-US" sz="1300" dirty="0"/>
          </a:p>
        </p:txBody>
      </p:sp>
      <p:sp>
        <p:nvSpPr>
          <p:cNvPr id="17" name="Text 15"/>
          <p:cNvSpPr/>
          <p:nvPr/>
        </p:nvSpPr>
        <p:spPr>
          <a:xfrm>
            <a:off x="602828" y="4206627"/>
            <a:ext cx="3769221" cy="411956"/>
          </a:xfrm>
          <a:prstGeom prst="rect">
            <a:avLst/>
          </a:prstGeom>
          <a:noFill/>
          <a:ln/>
        </p:spPr>
        <p:txBody>
          <a:bodyPr wrap="square" lIns="0" tIns="0" rIns="0" bIns="0" rtlCol="0" anchor="t">
            <a:normAutofit/>
          </a:bodyPr>
          <a:lstStyle/>
          <a:p>
            <a:pPr marL="0" indent="0" algn="ctr">
              <a:lnSpc>
                <a:spcPct val="129000"/>
              </a:lnSpc>
              <a:buNone/>
            </a:pPr>
            <a:r>
              <a:rPr lang="en-US" sz="1000" dirty="0">
                <a:solidFill>
                  <a:srgbClr val="000000"/>
                </a:solidFill>
                <a:latin typeface="DM Sans" pitchFamily="34" charset="0"/>
                <a:ea typeface="DM Sans" pitchFamily="34" charset="-122"/>
                <a:cs typeface="DM Sans" pitchFamily="34" charset="-120"/>
              </a:rPr>
              <a:t>De la recherche du terrain à la remise des clés, nous gérons chaque étape de votre projet.</a:t>
            </a:r>
            <a:endParaRPr lang="en-US" sz="1000" dirty="0"/>
          </a:p>
        </p:txBody>
      </p:sp>
      <p:sp>
        <p:nvSpPr>
          <p:cNvPr id="18" name="Shape 16"/>
          <p:cNvSpPr/>
          <p:nvPr/>
        </p:nvSpPr>
        <p:spPr>
          <a:xfrm>
            <a:off x="4634285" y="3321472"/>
            <a:ext cx="4044553" cy="1434778"/>
          </a:xfrm>
          <a:prstGeom prst="roundRect">
            <a:avLst>
              <a:gd name="adj" fmla="val 3891"/>
            </a:avLst>
          </a:prstGeom>
          <a:solidFill>
            <a:srgbClr val="F7EDD4"/>
          </a:solidFill>
          <a:ln w="4763">
            <a:solidFill>
              <a:srgbClr val="DDD3BA"/>
            </a:solidFill>
            <a:prstDash val="solid"/>
          </a:ln>
        </p:spPr>
        <p:txBody>
          <a:bodyPr/>
          <a:lstStyle/>
          <a:p>
            <a:endParaRPr lang="fr-FR"/>
          </a:p>
        </p:txBody>
      </p:sp>
      <p:sp>
        <p:nvSpPr>
          <p:cNvPr id="19" name="Text 17"/>
          <p:cNvSpPr/>
          <p:nvPr/>
        </p:nvSpPr>
        <p:spPr>
          <a:xfrm>
            <a:off x="4766593" y="3459138"/>
            <a:ext cx="3551262" cy="415305"/>
          </a:xfrm>
          <a:prstGeom prst="rect">
            <a:avLst/>
          </a:prstGeom>
          <a:noFill/>
          <a:ln/>
        </p:spPr>
        <p:txBody>
          <a:bodyPr wrap="none" lIns="0" tIns="0" rIns="0" bIns="0" rtlCol="0" anchor="t"/>
          <a:lstStyle/>
          <a:p>
            <a:pPr marL="0" indent="0" algn="ctr">
              <a:lnSpc>
                <a:spcPct val="104000"/>
              </a:lnSpc>
              <a:buNone/>
            </a:pPr>
            <a:r>
              <a:rPr lang="en-US" sz="2600" b="1" dirty="0">
                <a:solidFill>
                  <a:srgbClr val="000000"/>
                </a:solidFill>
                <a:latin typeface="Libre Baskerville" pitchFamily="34" charset="0"/>
                <a:ea typeface="Libre Baskerville" pitchFamily="34" charset="-122"/>
                <a:cs typeface="Libre Baskerville" pitchFamily="34" charset="-120"/>
              </a:rPr>
              <a:t>2 </a:t>
            </a:r>
            <a:r>
              <a:rPr lang="en-US" sz="2600" dirty="0">
                <a:solidFill>
                  <a:srgbClr val="000000"/>
                </a:solidFill>
                <a:latin typeface="Libre Baskerville" pitchFamily="34" charset="0"/>
                <a:ea typeface="Libre Baskerville" pitchFamily="34" charset="-122"/>
                <a:cs typeface="Libre Baskerville" pitchFamily="34" charset="-120"/>
              </a:rPr>
              <a:t>x</a:t>
            </a:r>
            <a:endParaRPr lang="en-US" sz="2600" dirty="0"/>
          </a:p>
        </p:txBody>
      </p:sp>
      <p:sp>
        <p:nvSpPr>
          <p:cNvPr id="20" name="Text 18"/>
          <p:cNvSpPr/>
          <p:nvPr/>
        </p:nvSpPr>
        <p:spPr>
          <a:xfrm>
            <a:off x="5326038" y="3924226"/>
            <a:ext cx="2432372" cy="207690"/>
          </a:xfrm>
          <a:prstGeom prst="rect">
            <a:avLst/>
          </a:prstGeom>
          <a:noFill/>
          <a:ln/>
        </p:spPr>
        <p:txBody>
          <a:bodyPr wrap="none" lIns="0" tIns="0" rIns="0" bIns="0" rtlCol="0" anchor="t"/>
          <a:lstStyle/>
          <a:p>
            <a:pPr marL="0" indent="0" algn="ctr">
              <a:lnSpc>
                <a:spcPct val="104000"/>
              </a:lnSpc>
              <a:buNone/>
            </a:pPr>
            <a:r>
              <a:rPr lang="en-US" sz="1300" dirty="0">
                <a:solidFill>
                  <a:srgbClr val="000000"/>
                </a:solidFill>
                <a:latin typeface="Libre Baskerville" pitchFamily="34" charset="0"/>
                <a:ea typeface="Libre Baskerville" pitchFamily="34" charset="-122"/>
                <a:cs typeface="Libre Baskerville" pitchFamily="34" charset="-120"/>
              </a:rPr>
              <a:t>Clients locaux &amp; expatriés</a:t>
            </a:r>
            <a:endParaRPr lang="en-US" sz="1300" dirty="0"/>
          </a:p>
        </p:txBody>
      </p:sp>
      <p:sp>
        <p:nvSpPr>
          <p:cNvPr id="21" name="Text 19"/>
          <p:cNvSpPr/>
          <p:nvPr/>
        </p:nvSpPr>
        <p:spPr>
          <a:xfrm>
            <a:off x="4771951" y="4206627"/>
            <a:ext cx="3769221" cy="411956"/>
          </a:xfrm>
          <a:prstGeom prst="rect">
            <a:avLst/>
          </a:prstGeom>
          <a:noFill/>
          <a:ln/>
        </p:spPr>
        <p:txBody>
          <a:bodyPr wrap="square" lIns="0" tIns="0" rIns="0" bIns="0" rtlCol="0" anchor="t">
            <a:normAutofit/>
          </a:bodyPr>
          <a:lstStyle/>
          <a:p>
            <a:pPr marL="0" indent="0" algn="ctr">
              <a:lnSpc>
                <a:spcPct val="129000"/>
              </a:lnSpc>
              <a:buNone/>
            </a:pPr>
            <a:r>
              <a:rPr lang="en-US" sz="1000" dirty="0">
                <a:solidFill>
                  <a:srgbClr val="000000"/>
                </a:solidFill>
                <a:latin typeface="DM Sans" pitchFamily="34" charset="0"/>
                <a:ea typeface="DM Sans" pitchFamily="34" charset="-122"/>
                <a:cs typeface="DM Sans" pitchFamily="34" charset="-120"/>
              </a:rPr>
              <a:t>Spécialistes des projets pour résidents mauriciens comme pour investisseurs internationaux.</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41871" y="387548"/>
            <a:ext cx="836265" cy="228451"/>
          </a:xfrm>
          <a:prstGeom prst="roundRect">
            <a:avLst>
              <a:gd name="adj" fmla="val 18570"/>
            </a:avLst>
          </a:prstGeom>
          <a:solidFill>
            <a:srgbClr val="F7EDD4"/>
          </a:solidFill>
          <a:ln/>
        </p:spPr>
        <p:txBody>
          <a:bodyPr/>
          <a:lstStyle/>
          <a:p>
            <a:endParaRPr lang="fr-FR"/>
          </a:p>
        </p:txBody>
      </p:sp>
      <p:sp>
        <p:nvSpPr>
          <p:cNvPr id="3" name="Text 1"/>
          <p:cNvSpPr/>
          <p:nvPr/>
        </p:nvSpPr>
        <p:spPr>
          <a:xfrm>
            <a:off x="517624" y="425425"/>
            <a:ext cx="1141958" cy="152698"/>
          </a:xfrm>
          <a:prstGeom prst="rect">
            <a:avLst/>
          </a:prstGeom>
          <a:noFill/>
          <a:ln/>
        </p:spPr>
        <p:txBody>
          <a:bodyPr wrap="none" lIns="0" tIns="0" rIns="0" bIns="0" rtlCol="0" anchor="t"/>
          <a:lstStyle/>
          <a:p>
            <a:pPr marL="0" indent="0" algn="l">
              <a:lnSpc>
                <a:spcPct val="126000"/>
              </a:lnSpc>
              <a:buNone/>
            </a:pPr>
            <a:r>
              <a:rPr lang="en-US" sz="750" dirty="0">
                <a:solidFill>
                  <a:srgbClr val="000000"/>
                </a:solidFill>
                <a:latin typeface="DM Sans" pitchFamily="34" charset="0"/>
                <a:ea typeface="DM Sans" pitchFamily="34" charset="-122"/>
                <a:cs typeface="DM Sans" pitchFamily="34" charset="-120"/>
              </a:rPr>
              <a:t>NOS SERVICES</a:t>
            </a:r>
            <a:endParaRPr lang="en-US" sz="750" dirty="0"/>
          </a:p>
        </p:txBody>
      </p:sp>
      <p:sp>
        <p:nvSpPr>
          <p:cNvPr id="4" name="Text 2"/>
          <p:cNvSpPr/>
          <p:nvPr/>
        </p:nvSpPr>
        <p:spPr>
          <a:xfrm>
            <a:off x="441871" y="660946"/>
            <a:ext cx="6612508" cy="394543"/>
          </a:xfrm>
          <a:prstGeom prst="rect">
            <a:avLst/>
          </a:prstGeom>
          <a:noFill/>
          <a:ln/>
        </p:spPr>
        <p:txBody>
          <a:bodyPr wrap="none" lIns="0" tIns="0" rIns="0" bIns="0" rtlCol="0" anchor="t"/>
          <a:lstStyle/>
          <a:p>
            <a:pPr marL="0" indent="0" algn="l">
              <a:lnSpc>
                <a:spcPct val="104000"/>
              </a:lnSpc>
              <a:buNone/>
            </a:pPr>
            <a:r>
              <a:rPr lang="en-US" sz="2450" dirty="0">
                <a:solidFill>
                  <a:srgbClr val="FFFFFF"/>
                </a:solidFill>
                <a:latin typeface="Libre Baskerville" pitchFamily="34" charset="0"/>
                <a:ea typeface="Libre Baskerville" pitchFamily="34" charset="-122"/>
                <a:cs typeface="Libre Baskerville" pitchFamily="34" charset="-120"/>
              </a:rPr>
              <a:t>Des solutions immobilières complètes</a:t>
            </a:r>
            <a:endParaRPr lang="en-US" sz="2450" dirty="0"/>
          </a:p>
        </p:txBody>
      </p:sp>
      <p:sp>
        <p:nvSpPr>
          <p:cNvPr id="5" name="Text 3"/>
          <p:cNvSpPr/>
          <p:nvPr/>
        </p:nvSpPr>
        <p:spPr>
          <a:xfrm>
            <a:off x="441871" y="1224111"/>
            <a:ext cx="8260259" cy="572839"/>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FFFFFF"/>
                </a:solidFill>
                <a:latin typeface="DM Sans" pitchFamily="34" charset="0"/>
                <a:ea typeface="DM Sans" pitchFamily="34" charset="-122"/>
                <a:cs typeface="DM Sans" pitchFamily="34" charset="-120"/>
              </a:rPr>
              <a:t>De l'acquisition de terrain au développement complet de votre projet, nous mettons à votre disposition notre savoir-faire, notre réseau et notre expertise locale pour garantir votre réussite. Que vous soyez un particulier à la recherche du terrain idéal, un promoteur souhaitant développer un morcellement ou un investisseur étranger désireux de s'établir à Maurice, nous avons la solution adaptée à votre situation.</a:t>
            </a:r>
            <a:endParaRPr lang="en-US" sz="950" dirty="0"/>
          </a:p>
        </p:txBody>
      </p:sp>
      <p:pic>
        <p:nvPicPr>
          <p:cNvPr id="6" name="Image 0" descr="preencoded.png"/>
          <p:cNvPicPr>
            <a:picLocks noChangeAspect="1"/>
          </p:cNvPicPr>
          <p:nvPr/>
        </p:nvPicPr>
        <p:blipFill>
          <a:blip r:embed="rId3"/>
          <a:stretch>
            <a:fillRect/>
          </a:stretch>
        </p:blipFill>
        <p:spPr>
          <a:xfrm>
            <a:off x="441871" y="1923455"/>
            <a:ext cx="1136600" cy="702469"/>
          </a:xfrm>
          <a:prstGeom prst="rect">
            <a:avLst/>
          </a:prstGeom>
        </p:spPr>
      </p:pic>
      <p:sp>
        <p:nvSpPr>
          <p:cNvPr id="7" name="Text 4"/>
          <p:cNvSpPr/>
          <p:nvPr/>
        </p:nvSpPr>
        <p:spPr>
          <a:xfrm>
            <a:off x="441871" y="2766417"/>
            <a:ext cx="1959694" cy="394543"/>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FFFFFF"/>
                </a:solidFill>
                <a:latin typeface="Libre Baskerville" pitchFamily="34" charset="0"/>
                <a:ea typeface="Libre Baskerville" pitchFamily="34" charset="-122"/>
                <a:cs typeface="Libre Baskerville" pitchFamily="34" charset="-120"/>
              </a:rPr>
              <a:t>Achat &amp; Vente de Terrains</a:t>
            </a:r>
            <a:endParaRPr lang="en-US" sz="1200" dirty="0"/>
          </a:p>
        </p:txBody>
      </p:sp>
      <p:sp>
        <p:nvSpPr>
          <p:cNvPr id="8" name="Text 5"/>
          <p:cNvSpPr/>
          <p:nvPr/>
        </p:nvSpPr>
        <p:spPr>
          <a:xfrm>
            <a:off x="441871" y="3228380"/>
            <a:ext cx="1959694" cy="1336625"/>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FFFFFF"/>
                </a:solidFill>
                <a:latin typeface="DM Sans" pitchFamily="34" charset="0"/>
                <a:ea typeface="DM Sans" pitchFamily="34" charset="-122"/>
                <a:cs typeface="DM Sans" pitchFamily="34" charset="-120"/>
              </a:rPr>
              <a:t>Nous vous accompagnons dans l'identification et l'acquisition des meilleurs terrains disponibles à Maurice, adaptés à votre projet et à votre budget. Notre réseau exclusif nous permet d'accéder à des opportunités off-market.</a:t>
            </a:r>
            <a:endParaRPr lang="en-US" sz="950" dirty="0"/>
          </a:p>
        </p:txBody>
      </p:sp>
      <p:pic>
        <p:nvPicPr>
          <p:cNvPr id="9" name="Image 1" descr="preencoded.png"/>
          <p:cNvPicPr>
            <a:picLocks noChangeAspect="1"/>
          </p:cNvPicPr>
          <p:nvPr/>
        </p:nvPicPr>
        <p:blipFill>
          <a:blip r:embed="rId4"/>
          <a:stretch>
            <a:fillRect/>
          </a:stretch>
        </p:blipFill>
        <p:spPr>
          <a:xfrm>
            <a:off x="2542059" y="1923455"/>
            <a:ext cx="1136600" cy="702469"/>
          </a:xfrm>
          <a:prstGeom prst="rect">
            <a:avLst/>
          </a:prstGeom>
        </p:spPr>
      </p:pic>
      <p:sp>
        <p:nvSpPr>
          <p:cNvPr id="10" name="Text 6"/>
          <p:cNvSpPr/>
          <p:nvPr/>
        </p:nvSpPr>
        <p:spPr>
          <a:xfrm>
            <a:off x="2542059" y="2766417"/>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Libre Baskerville" pitchFamily="34" charset="0"/>
                <a:ea typeface="Libre Baskerville" pitchFamily="34" charset="-122"/>
                <a:cs typeface="Libre Baskerville" pitchFamily="34" charset="-120"/>
              </a:rPr>
              <a:t>Morcellement</a:t>
            </a:r>
            <a:endParaRPr lang="en-US" sz="1200" dirty="0"/>
          </a:p>
        </p:txBody>
      </p:sp>
      <p:sp>
        <p:nvSpPr>
          <p:cNvPr id="11" name="Text 7"/>
          <p:cNvSpPr/>
          <p:nvPr/>
        </p:nvSpPr>
        <p:spPr>
          <a:xfrm>
            <a:off x="2542059" y="3031108"/>
            <a:ext cx="1959694" cy="1527572"/>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FFFFFF"/>
                </a:solidFill>
                <a:latin typeface="DM Sans" pitchFamily="34" charset="0"/>
                <a:ea typeface="DM Sans" pitchFamily="34" charset="-122"/>
                <a:cs typeface="DM Sans" pitchFamily="34" charset="-120"/>
              </a:rPr>
              <a:t>Experts en morcellement foncier à l'île Maurice, nous gérons l'ensemble des démarches administratives, légales et techniques pour vous permettre de valoriser au mieux votre propriété ou d'investir dans un projet de lotissement.</a:t>
            </a:r>
            <a:endParaRPr lang="en-US" sz="950" dirty="0"/>
          </a:p>
        </p:txBody>
      </p:sp>
      <p:pic>
        <p:nvPicPr>
          <p:cNvPr id="12" name="Image 2" descr="preencoded.png"/>
          <p:cNvPicPr>
            <a:picLocks noChangeAspect="1"/>
          </p:cNvPicPr>
          <p:nvPr/>
        </p:nvPicPr>
        <p:blipFill>
          <a:blip r:embed="rId5"/>
          <a:stretch>
            <a:fillRect/>
          </a:stretch>
        </p:blipFill>
        <p:spPr>
          <a:xfrm>
            <a:off x="4642247" y="1923455"/>
            <a:ext cx="1136600" cy="702469"/>
          </a:xfrm>
          <a:prstGeom prst="rect">
            <a:avLst/>
          </a:prstGeom>
        </p:spPr>
      </p:pic>
      <p:sp>
        <p:nvSpPr>
          <p:cNvPr id="13" name="Text 8"/>
          <p:cNvSpPr/>
          <p:nvPr/>
        </p:nvSpPr>
        <p:spPr>
          <a:xfrm>
            <a:off x="4642247" y="2766417"/>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Libre Baskerville" pitchFamily="34" charset="0"/>
                <a:ea typeface="Libre Baskerville" pitchFamily="34" charset="-122"/>
                <a:cs typeface="Libre Baskerville" pitchFamily="34" charset="-120"/>
              </a:rPr>
              <a:t>Construction</a:t>
            </a:r>
            <a:endParaRPr lang="en-US" sz="1200" dirty="0"/>
          </a:p>
        </p:txBody>
      </p:sp>
      <p:sp>
        <p:nvSpPr>
          <p:cNvPr id="14" name="Text 9"/>
          <p:cNvSpPr/>
          <p:nvPr/>
        </p:nvSpPr>
        <p:spPr>
          <a:xfrm>
            <a:off x="4642247" y="3031108"/>
            <a:ext cx="1959694" cy="1527572"/>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FFFFFF"/>
                </a:solidFill>
                <a:latin typeface="DM Sans" pitchFamily="34" charset="0"/>
                <a:ea typeface="DM Sans" pitchFamily="34" charset="-122"/>
                <a:cs typeface="DM Sans" pitchFamily="34" charset="-120"/>
              </a:rPr>
              <a:t>De la conception architecturale à la livraison, notre équipe supervise chaque phase de votre chantier. Nous travaillons avec les meilleurs entrepreneurs locaux pour garantir qualité, respect des délais et maîtrise du budget.</a:t>
            </a:r>
            <a:endParaRPr lang="en-US" sz="950" dirty="0"/>
          </a:p>
        </p:txBody>
      </p:sp>
      <p:pic>
        <p:nvPicPr>
          <p:cNvPr id="15" name="Image 3" descr="preencoded.png"/>
          <p:cNvPicPr>
            <a:picLocks noChangeAspect="1"/>
          </p:cNvPicPr>
          <p:nvPr/>
        </p:nvPicPr>
        <p:blipFill>
          <a:blip r:embed="rId6"/>
          <a:stretch>
            <a:fillRect/>
          </a:stretch>
        </p:blipFill>
        <p:spPr>
          <a:xfrm>
            <a:off x="6742435" y="1923455"/>
            <a:ext cx="1136600" cy="702469"/>
          </a:xfrm>
          <a:prstGeom prst="rect">
            <a:avLst/>
          </a:prstGeom>
        </p:spPr>
      </p:pic>
      <p:sp>
        <p:nvSpPr>
          <p:cNvPr id="16" name="Text 10"/>
          <p:cNvSpPr/>
          <p:nvPr/>
        </p:nvSpPr>
        <p:spPr>
          <a:xfrm>
            <a:off x="6742435" y="2766417"/>
            <a:ext cx="1959694" cy="394543"/>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FFFFFF"/>
                </a:solidFill>
                <a:latin typeface="Libre Baskerville" pitchFamily="34" charset="0"/>
                <a:ea typeface="Libre Baskerville" pitchFamily="34" charset="-122"/>
                <a:cs typeface="Libre Baskerville" pitchFamily="34" charset="-120"/>
              </a:rPr>
              <a:t>Investissement Expatriés</a:t>
            </a:r>
            <a:endParaRPr lang="en-US" sz="1200" dirty="0"/>
          </a:p>
        </p:txBody>
      </p:sp>
      <p:sp>
        <p:nvSpPr>
          <p:cNvPr id="17" name="Text 11"/>
          <p:cNvSpPr/>
          <p:nvPr/>
        </p:nvSpPr>
        <p:spPr>
          <a:xfrm>
            <a:off x="6742435" y="3228380"/>
            <a:ext cx="1959694" cy="1527572"/>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FFFFFF"/>
                </a:solidFill>
                <a:latin typeface="DM Sans" pitchFamily="34" charset="0"/>
                <a:ea typeface="DM Sans" pitchFamily="34" charset="-122"/>
                <a:cs typeface="DM Sans" pitchFamily="34" charset="-120"/>
              </a:rPr>
              <a:t>Nous offrons un service dédié aux investisseurs étrangers souhaitant acquérir un bien à Maurice. Accompagnement juridique, fiscal et administratif pour simplifier chaque étape de votre investissement depuis l'étranger.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34132" y="360164"/>
            <a:ext cx="1014933" cy="232842"/>
          </a:xfrm>
          <a:prstGeom prst="roundRect">
            <a:avLst>
              <a:gd name="adj" fmla="val 17900"/>
            </a:avLst>
          </a:prstGeom>
          <a:noFill/>
          <a:ln w="4763">
            <a:solidFill>
              <a:srgbClr val="B6A062"/>
            </a:solidFill>
            <a:prstDash val="solid"/>
          </a:ln>
        </p:spPr>
        <p:txBody>
          <a:bodyPr/>
          <a:lstStyle/>
          <a:p>
            <a:endParaRPr lang="fr-FR"/>
          </a:p>
        </p:txBody>
      </p:sp>
      <p:sp>
        <p:nvSpPr>
          <p:cNvPr id="3" name="Text 1"/>
          <p:cNvSpPr/>
          <p:nvPr/>
        </p:nvSpPr>
        <p:spPr>
          <a:xfrm>
            <a:off x="513308" y="402134"/>
            <a:ext cx="1313780" cy="148903"/>
          </a:xfrm>
          <a:prstGeom prst="rect">
            <a:avLst/>
          </a:prstGeom>
          <a:noFill/>
          <a:ln/>
        </p:spPr>
        <p:txBody>
          <a:bodyPr wrap="none" lIns="0" tIns="0" rIns="0" bIns="0" rtlCol="0" anchor="t"/>
          <a:lstStyle/>
          <a:p>
            <a:pPr marL="0" indent="0" algn="l">
              <a:lnSpc>
                <a:spcPct val="125000"/>
              </a:lnSpc>
              <a:buNone/>
            </a:pPr>
            <a:r>
              <a:rPr lang="en-US" sz="750" dirty="0">
                <a:solidFill>
                  <a:srgbClr val="B6A062"/>
                </a:solidFill>
                <a:latin typeface="DM Sans" pitchFamily="34" charset="0"/>
                <a:ea typeface="DM Sans" pitchFamily="34" charset="-122"/>
                <a:cs typeface="DM Sans" pitchFamily="34" charset="-120"/>
              </a:rPr>
              <a:t>BIENS EN VEDETTE</a:t>
            </a:r>
            <a:endParaRPr lang="en-US" sz="750" dirty="0"/>
          </a:p>
        </p:txBody>
      </p:sp>
      <p:sp>
        <p:nvSpPr>
          <p:cNvPr id="4" name="Text 2"/>
          <p:cNvSpPr/>
          <p:nvPr/>
        </p:nvSpPr>
        <p:spPr>
          <a:xfrm>
            <a:off x="434132" y="636389"/>
            <a:ext cx="4956274" cy="387548"/>
          </a:xfrm>
          <a:prstGeom prst="rect">
            <a:avLst/>
          </a:prstGeom>
          <a:noFill/>
          <a:ln/>
        </p:spPr>
        <p:txBody>
          <a:bodyPr wrap="none" lIns="0" tIns="0" rIns="0" bIns="0" rtlCol="0" anchor="t"/>
          <a:lstStyle/>
          <a:p>
            <a:pPr marL="0" indent="0" algn="l">
              <a:lnSpc>
                <a:spcPct val="104000"/>
              </a:lnSpc>
              <a:buNone/>
            </a:pPr>
            <a:r>
              <a:rPr lang="en-US" sz="2400" dirty="0">
                <a:solidFill>
                  <a:srgbClr val="5C4E3D"/>
                </a:solidFill>
                <a:latin typeface="Libre Baskerville" pitchFamily="34" charset="0"/>
                <a:ea typeface="Libre Baskerville" pitchFamily="34" charset="-122"/>
                <a:cs typeface="Libre Baskerville" pitchFamily="34" charset="-120"/>
              </a:rPr>
              <a:t>Projets &amp; Biens Sélectionnés</a:t>
            </a:r>
            <a:endParaRPr lang="en-US" sz="2400" dirty="0"/>
          </a:p>
        </p:txBody>
      </p:sp>
      <p:sp>
        <p:nvSpPr>
          <p:cNvPr id="5" name="Text 3"/>
          <p:cNvSpPr/>
          <p:nvPr/>
        </p:nvSpPr>
        <p:spPr>
          <a:xfrm>
            <a:off x="434132" y="1186681"/>
            <a:ext cx="8275737"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454240"/>
                </a:solidFill>
                <a:latin typeface="DM Sans" pitchFamily="34" charset="0"/>
                <a:ea typeface="DM Sans" pitchFamily="34" charset="-122"/>
                <a:cs typeface="DM Sans" pitchFamily="34" charset="-120"/>
              </a:rPr>
              <a:t>Découvrez une sélection de nos propriétés et projets actuellement disponibles à l'île Maurice. Chaque bien est soigneusement sélectionné pour sa localisation, son potentiel et la qualité de son environnement. Que vous recherchiez un terrain à bâtir, une villa clé en main ou un projet en développement, nos conseillers sont disponibles pour vous présenter les opportunités correspondant à vos critères.</a:t>
            </a:r>
            <a:endParaRPr lang="en-US" sz="950" dirty="0"/>
          </a:p>
        </p:txBody>
      </p:sp>
      <p:sp>
        <p:nvSpPr>
          <p:cNvPr id="6" name="Shape 4"/>
          <p:cNvSpPr/>
          <p:nvPr/>
        </p:nvSpPr>
        <p:spPr>
          <a:xfrm>
            <a:off x="434132" y="1866826"/>
            <a:ext cx="2686199" cy="2453283"/>
          </a:xfrm>
          <a:prstGeom prst="roundRect">
            <a:avLst>
              <a:gd name="adj" fmla="val 2124"/>
            </a:avLst>
          </a:prstGeom>
          <a:solidFill>
            <a:srgbClr val="FFFDFA"/>
          </a:solidFill>
          <a:ln w="14288">
            <a:solidFill>
              <a:srgbClr val="D5D0C2"/>
            </a:solidFill>
            <a:prstDash val="solid"/>
          </a:ln>
        </p:spPr>
        <p:txBody>
          <a:bodyPr/>
          <a:lstStyle/>
          <a:p>
            <a:endParaRPr lang="fr-FR"/>
          </a:p>
        </p:txBody>
      </p:sp>
      <p:sp>
        <p:nvSpPr>
          <p:cNvPr id="7" name="Shape 5"/>
          <p:cNvSpPr/>
          <p:nvPr/>
        </p:nvSpPr>
        <p:spPr>
          <a:xfrm>
            <a:off x="448419" y="1881113"/>
            <a:ext cx="2657624" cy="372070"/>
          </a:xfrm>
          <a:prstGeom prst="roundRect">
            <a:avLst>
              <a:gd name="adj" fmla="val 9395"/>
            </a:avLst>
          </a:prstGeom>
          <a:solidFill>
            <a:srgbClr val="EFEADC"/>
          </a:solidFill>
          <a:ln/>
        </p:spPr>
        <p:txBody>
          <a:bodyPr/>
          <a:lstStyle/>
          <a:p>
            <a:endParaRPr lang="fr-FR"/>
          </a:p>
        </p:txBody>
      </p:sp>
      <p:sp>
        <p:nvSpPr>
          <p:cNvPr id="8" name="Text 6"/>
          <p:cNvSpPr/>
          <p:nvPr/>
        </p:nvSpPr>
        <p:spPr>
          <a:xfrm>
            <a:off x="572393" y="2361679"/>
            <a:ext cx="2409676"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54240"/>
                </a:solidFill>
                <a:latin typeface="Libre Baskerville" pitchFamily="34" charset="0"/>
                <a:ea typeface="Libre Baskerville" pitchFamily="34" charset="-122"/>
                <a:cs typeface="Libre Baskerville" pitchFamily="34" charset="-120"/>
              </a:rPr>
              <a:t> Terrain Résidentiel — Grand Baie</a:t>
            </a:r>
            <a:endParaRPr lang="en-US" sz="1200" dirty="0"/>
          </a:p>
        </p:txBody>
      </p:sp>
      <p:sp>
        <p:nvSpPr>
          <p:cNvPr id="9" name="Text 7"/>
          <p:cNvSpPr/>
          <p:nvPr/>
        </p:nvSpPr>
        <p:spPr>
          <a:xfrm>
            <a:off x="572393" y="2814489"/>
            <a:ext cx="2409676" cy="1367358"/>
          </a:xfrm>
          <a:prstGeom prst="rect">
            <a:avLst/>
          </a:prstGeom>
          <a:noFill/>
          <a:ln/>
        </p:spPr>
        <p:txBody>
          <a:bodyPr wrap="square" lIns="0" tIns="0" rIns="0" bIns="0" rtlCol="0" anchor="t">
            <a:normAutofit/>
          </a:bodyPr>
          <a:lstStyle/>
          <a:p>
            <a:pPr marL="0" indent="0" algn="l">
              <a:lnSpc>
                <a:spcPct val="125000"/>
              </a:lnSpc>
              <a:buNone/>
            </a:pPr>
            <a:r>
              <a:rPr lang="en-US" sz="950" b="1" dirty="0">
                <a:solidFill>
                  <a:srgbClr val="454240"/>
                </a:solidFill>
                <a:latin typeface="DM Sans" pitchFamily="34" charset="0"/>
                <a:ea typeface="DM Sans" pitchFamily="34" charset="-122"/>
                <a:cs typeface="DM Sans" pitchFamily="34" charset="-120"/>
              </a:rPr>
              <a:t>Surface :</a:t>
            </a:r>
            <a:r>
              <a:rPr lang="en-US" sz="950" dirty="0">
                <a:solidFill>
                  <a:srgbClr val="454240"/>
                </a:solidFill>
                <a:latin typeface="DM Sans" pitchFamily="34" charset="0"/>
                <a:ea typeface="DM Sans" pitchFamily="34" charset="-122"/>
                <a:cs typeface="DM Sans" pitchFamily="34" charset="-120"/>
              </a:rPr>
              <a:t> 650 m² | </a:t>
            </a:r>
            <a:r>
              <a:rPr lang="en-US" sz="950" b="1" dirty="0">
                <a:solidFill>
                  <a:srgbClr val="454240"/>
                </a:solidFill>
                <a:latin typeface="DM Sans" pitchFamily="34" charset="0"/>
                <a:ea typeface="DM Sans" pitchFamily="34" charset="-122"/>
                <a:cs typeface="DM Sans" pitchFamily="34" charset="-120"/>
              </a:rPr>
              <a:t>Prix :</a:t>
            </a:r>
            <a:r>
              <a:rPr lang="en-US" sz="950" dirty="0">
                <a:solidFill>
                  <a:srgbClr val="454240"/>
                </a:solidFill>
                <a:latin typeface="DM Sans" pitchFamily="34" charset="0"/>
                <a:ea typeface="DM Sans" pitchFamily="34" charset="-122"/>
                <a:cs typeface="DM Sans" pitchFamily="34" charset="-120"/>
              </a:rPr>
              <a:t> À partir de 3 500 000 MUR</a:t>
            </a:r>
            <a:endParaRPr lang="en-US" sz="950" dirty="0"/>
          </a:p>
          <a:p>
            <a:pPr marL="0" indent="0" algn="l">
              <a:lnSpc>
                <a:spcPct val="125000"/>
              </a:lnSpc>
              <a:buNone/>
            </a:pPr>
            <a:r>
              <a:rPr lang="en-US" sz="950" dirty="0">
                <a:solidFill>
                  <a:srgbClr val="454240"/>
                </a:solidFill>
                <a:latin typeface="DM Sans" pitchFamily="34" charset="0"/>
                <a:ea typeface="DM Sans" pitchFamily="34" charset="-122"/>
                <a:cs typeface="DM Sans" pitchFamily="34" charset="-120"/>
              </a:rPr>
              <a:t>Terrain plat, viabilisé, dans un quartier prisé du nord de l'île. Idéal pour la construction d'une villa familiale ou d'un investissement locatif. Accès rapide aux plages et commodités.</a:t>
            </a:r>
            <a:endParaRPr lang="en-US" sz="950" dirty="0"/>
          </a:p>
        </p:txBody>
      </p:sp>
      <p:sp>
        <p:nvSpPr>
          <p:cNvPr id="10" name="Shape 8"/>
          <p:cNvSpPr/>
          <p:nvPr/>
        </p:nvSpPr>
        <p:spPr>
          <a:xfrm>
            <a:off x="3228826" y="1866826"/>
            <a:ext cx="2686273" cy="2453283"/>
          </a:xfrm>
          <a:prstGeom prst="roundRect">
            <a:avLst>
              <a:gd name="adj" fmla="val 2124"/>
            </a:avLst>
          </a:prstGeom>
          <a:solidFill>
            <a:srgbClr val="FFFDFA"/>
          </a:solidFill>
          <a:ln w="14288">
            <a:solidFill>
              <a:srgbClr val="D5D0C2"/>
            </a:solidFill>
            <a:prstDash val="solid"/>
          </a:ln>
        </p:spPr>
        <p:txBody>
          <a:bodyPr/>
          <a:lstStyle/>
          <a:p>
            <a:endParaRPr lang="fr-FR"/>
          </a:p>
        </p:txBody>
      </p:sp>
      <p:sp>
        <p:nvSpPr>
          <p:cNvPr id="11" name="Shape 9"/>
          <p:cNvSpPr/>
          <p:nvPr/>
        </p:nvSpPr>
        <p:spPr>
          <a:xfrm>
            <a:off x="3243114" y="1881113"/>
            <a:ext cx="2657698" cy="372070"/>
          </a:xfrm>
          <a:prstGeom prst="roundRect">
            <a:avLst>
              <a:gd name="adj" fmla="val 9395"/>
            </a:avLst>
          </a:prstGeom>
          <a:solidFill>
            <a:srgbClr val="EFEADC"/>
          </a:solidFill>
          <a:ln/>
        </p:spPr>
        <p:txBody>
          <a:bodyPr/>
          <a:lstStyle/>
          <a:p>
            <a:endParaRPr lang="fr-FR"/>
          </a:p>
        </p:txBody>
      </p:sp>
      <p:sp>
        <p:nvSpPr>
          <p:cNvPr id="12" name="Text 10"/>
          <p:cNvSpPr/>
          <p:nvPr/>
        </p:nvSpPr>
        <p:spPr>
          <a:xfrm>
            <a:off x="3367088" y="2361679"/>
            <a:ext cx="2409751"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54240"/>
                </a:solidFill>
                <a:latin typeface="Libre Baskerville" pitchFamily="34" charset="0"/>
                <a:ea typeface="Libre Baskerville" pitchFamily="34" charset="-122"/>
                <a:cs typeface="Libre Baskerville" pitchFamily="34" charset="-120"/>
              </a:rPr>
              <a:t> Projet en Cours — Morcellement Tamarin</a:t>
            </a:r>
            <a:endParaRPr lang="en-US" sz="1200" dirty="0"/>
          </a:p>
        </p:txBody>
      </p:sp>
      <p:sp>
        <p:nvSpPr>
          <p:cNvPr id="13" name="Text 11"/>
          <p:cNvSpPr/>
          <p:nvPr/>
        </p:nvSpPr>
        <p:spPr>
          <a:xfrm>
            <a:off x="3367088" y="2814489"/>
            <a:ext cx="2409751" cy="1367358"/>
          </a:xfrm>
          <a:prstGeom prst="rect">
            <a:avLst/>
          </a:prstGeom>
          <a:noFill/>
          <a:ln/>
        </p:spPr>
        <p:txBody>
          <a:bodyPr wrap="square" lIns="0" tIns="0" rIns="0" bIns="0" rtlCol="0" anchor="t">
            <a:normAutofit/>
          </a:bodyPr>
          <a:lstStyle/>
          <a:p>
            <a:pPr marL="0" indent="0" algn="l">
              <a:lnSpc>
                <a:spcPct val="125000"/>
              </a:lnSpc>
              <a:buNone/>
            </a:pPr>
            <a:r>
              <a:rPr lang="en-US" sz="950" b="1" dirty="0">
                <a:solidFill>
                  <a:srgbClr val="454240"/>
                </a:solidFill>
                <a:latin typeface="DM Sans" pitchFamily="34" charset="0"/>
                <a:ea typeface="DM Sans" pitchFamily="34" charset="-122"/>
                <a:cs typeface="DM Sans" pitchFamily="34" charset="-120"/>
              </a:rPr>
              <a:t>Lots disponibles :</a:t>
            </a:r>
            <a:r>
              <a:rPr lang="en-US" sz="950" dirty="0">
                <a:solidFill>
                  <a:srgbClr val="454240"/>
                </a:solidFill>
                <a:latin typeface="DM Sans" pitchFamily="34" charset="0"/>
                <a:ea typeface="DM Sans" pitchFamily="34" charset="-122"/>
                <a:cs typeface="DM Sans" pitchFamily="34" charset="-120"/>
              </a:rPr>
              <a:t> 12 | </a:t>
            </a:r>
            <a:r>
              <a:rPr lang="en-US" sz="950" b="1" dirty="0">
                <a:solidFill>
                  <a:srgbClr val="454240"/>
                </a:solidFill>
                <a:latin typeface="DM Sans" pitchFamily="34" charset="0"/>
                <a:ea typeface="DM Sans" pitchFamily="34" charset="-122"/>
                <a:cs typeface="DM Sans" pitchFamily="34" charset="-120"/>
              </a:rPr>
              <a:t>Livraison prévue :</a:t>
            </a:r>
            <a:r>
              <a:rPr lang="en-US" sz="950" dirty="0">
                <a:solidFill>
                  <a:srgbClr val="454240"/>
                </a:solidFill>
                <a:latin typeface="DM Sans" pitchFamily="34" charset="0"/>
                <a:ea typeface="DM Sans" pitchFamily="34" charset="-122"/>
                <a:cs typeface="DM Sans" pitchFamily="34" charset="-120"/>
              </a:rPr>
              <a:t>  2Janvier 2027</a:t>
            </a:r>
            <a:endParaRPr lang="en-US" sz="950" dirty="0"/>
          </a:p>
          <a:p>
            <a:pPr marL="0" indent="0" algn="l">
              <a:lnSpc>
                <a:spcPct val="125000"/>
              </a:lnSpc>
              <a:buNone/>
            </a:pPr>
            <a:r>
              <a:rPr lang="en-US" sz="950" dirty="0">
                <a:solidFill>
                  <a:srgbClr val="454240"/>
                </a:solidFill>
                <a:latin typeface="DM Sans" pitchFamily="34" charset="0"/>
                <a:ea typeface="DM Sans" pitchFamily="34" charset="-122"/>
                <a:cs typeface="DM Sans" pitchFamily="34" charset="-120"/>
              </a:rPr>
              <a:t>Nouveau morcellement résidentiel au cœur de la côte ouest, avec vue sur les montagnes. Lots de 400 à 900 m² avec toutes les infrastructures incluses. Possibilité de financement.</a:t>
            </a:r>
            <a:endParaRPr lang="en-US" sz="950" dirty="0"/>
          </a:p>
        </p:txBody>
      </p:sp>
      <p:sp>
        <p:nvSpPr>
          <p:cNvPr id="14" name="Shape 12"/>
          <p:cNvSpPr/>
          <p:nvPr/>
        </p:nvSpPr>
        <p:spPr>
          <a:xfrm>
            <a:off x="6023595" y="1866826"/>
            <a:ext cx="2686199" cy="2453283"/>
          </a:xfrm>
          <a:prstGeom prst="roundRect">
            <a:avLst>
              <a:gd name="adj" fmla="val 2124"/>
            </a:avLst>
          </a:prstGeom>
          <a:solidFill>
            <a:srgbClr val="FFFDFA"/>
          </a:solidFill>
          <a:ln w="14288">
            <a:solidFill>
              <a:srgbClr val="D5D0C2"/>
            </a:solidFill>
            <a:prstDash val="solid"/>
          </a:ln>
        </p:spPr>
        <p:txBody>
          <a:bodyPr/>
          <a:lstStyle/>
          <a:p>
            <a:endParaRPr lang="fr-FR"/>
          </a:p>
        </p:txBody>
      </p:sp>
      <p:sp>
        <p:nvSpPr>
          <p:cNvPr id="15" name="Shape 13"/>
          <p:cNvSpPr/>
          <p:nvPr/>
        </p:nvSpPr>
        <p:spPr>
          <a:xfrm>
            <a:off x="6037883" y="1881113"/>
            <a:ext cx="2657624" cy="372070"/>
          </a:xfrm>
          <a:prstGeom prst="roundRect">
            <a:avLst>
              <a:gd name="adj" fmla="val 9395"/>
            </a:avLst>
          </a:prstGeom>
          <a:solidFill>
            <a:srgbClr val="EFEADC"/>
          </a:solidFill>
          <a:ln/>
        </p:spPr>
        <p:txBody>
          <a:bodyPr/>
          <a:lstStyle/>
          <a:p>
            <a:endParaRPr lang="fr-FR"/>
          </a:p>
        </p:txBody>
      </p:sp>
      <p:sp>
        <p:nvSpPr>
          <p:cNvPr id="16" name="Text 14"/>
          <p:cNvSpPr/>
          <p:nvPr/>
        </p:nvSpPr>
        <p:spPr>
          <a:xfrm>
            <a:off x="6161856" y="2361679"/>
            <a:ext cx="2409676"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Libre Baskerville" pitchFamily="34" charset="0"/>
                <a:ea typeface="Libre Baskerville" pitchFamily="34" charset="-122"/>
                <a:cs typeface="Libre Baskerville" pitchFamily="34" charset="-120"/>
              </a:rPr>
              <a:t>🏡</a:t>
            </a:r>
            <a:r>
              <a:rPr lang="en-US" sz="1200" dirty="0">
                <a:solidFill>
                  <a:srgbClr val="454240"/>
                </a:solidFill>
                <a:latin typeface="Libre Baskerville" pitchFamily="34" charset="0"/>
                <a:ea typeface="Libre Baskerville" pitchFamily="34" charset="-122"/>
                <a:cs typeface="Libre Baskerville" pitchFamily="34" charset="-120"/>
              </a:rPr>
              <a:t> Villa en Construction — Rivière Noire</a:t>
            </a:r>
            <a:endParaRPr lang="en-US" sz="1200" dirty="0"/>
          </a:p>
        </p:txBody>
      </p:sp>
      <p:sp>
        <p:nvSpPr>
          <p:cNvPr id="17" name="Text 15"/>
          <p:cNvSpPr/>
          <p:nvPr/>
        </p:nvSpPr>
        <p:spPr>
          <a:xfrm>
            <a:off x="6161856" y="2814489"/>
            <a:ext cx="2409676" cy="1367358"/>
          </a:xfrm>
          <a:prstGeom prst="rect">
            <a:avLst/>
          </a:prstGeom>
          <a:noFill/>
          <a:ln/>
        </p:spPr>
        <p:txBody>
          <a:bodyPr wrap="square" lIns="0" tIns="0" rIns="0" bIns="0" rtlCol="0" anchor="t">
            <a:normAutofit/>
          </a:bodyPr>
          <a:lstStyle/>
          <a:p>
            <a:pPr marL="0" indent="0" algn="l">
              <a:lnSpc>
                <a:spcPct val="125000"/>
              </a:lnSpc>
              <a:buNone/>
            </a:pPr>
            <a:r>
              <a:rPr lang="en-US" sz="950" b="1" dirty="0">
                <a:solidFill>
                  <a:srgbClr val="454240"/>
                </a:solidFill>
                <a:latin typeface="DM Sans" pitchFamily="34" charset="0"/>
                <a:ea typeface="DM Sans" pitchFamily="34" charset="-122"/>
                <a:cs typeface="DM Sans" pitchFamily="34" charset="-120"/>
              </a:rPr>
              <a:t>Surface habitable :</a:t>
            </a:r>
            <a:r>
              <a:rPr lang="en-US" sz="950" dirty="0">
                <a:solidFill>
                  <a:srgbClr val="454240"/>
                </a:solidFill>
                <a:latin typeface="DM Sans" pitchFamily="34" charset="0"/>
                <a:ea typeface="DM Sans" pitchFamily="34" charset="-122"/>
                <a:cs typeface="DM Sans" pitchFamily="34" charset="-120"/>
              </a:rPr>
              <a:t> 250 m² | </a:t>
            </a:r>
            <a:r>
              <a:rPr lang="en-US" sz="950" b="1" dirty="0">
                <a:solidFill>
                  <a:srgbClr val="454240"/>
                </a:solidFill>
                <a:latin typeface="DM Sans" pitchFamily="34" charset="0"/>
                <a:ea typeface="DM Sans" pitchFamily="34" charset="-122"/>
                <a:cs typeface="DM Sans" pitchFamily="34" charset="-120"/>
              </a:rPr>
              <a:t>Livraison :</a:t>
            </a:r>
            <a:r>
              <a:rPr lang="en-US" sz="950" dirty="0">
                <a:solidFill>
                  <a:srgbClr val="454240"/>
                </a:solidFill>
                <a:latin typeface="DM Sans" pitchFamily="34" charset="0"/>
                <a:ea typeface="DM Sans" pitchFamily="34" charset="-122"/>
                <a:cs typeface="DM Sans" pitchFamily="34" charset="-120"/>
              </a:rPr>
              <a:t> 18 mois</a:t>
            </a:r>
            <a:endParaRPr lang="en-US" sz="950" dirty="0"/>
          </a:p>
          <a:p>
            <a:pPr marL="0" indent="0" algn="l">
              <a:lnSpc>
                <a:spcPct val="125000"/>
              </a:lnSpc>
              <a:buNone/>
            </a:pPr>
            <a:r>
              <a:rPr lang="en-US" sz="950" dirty="0">
                <a:solidFill>
                  <a:srgbClr val="454240"/>
                </a:solidFill>
                <a:latin typeface="DM Sans" pitchFamily="34" charset="0"/>
                <a:ea typeface="DM Sans" pitchFamily="34" charset="-122"/>
                <a:cs typeface="DM Sans" pitchFamily="34" charset="-120"/>
              </a:rPr>
              <a:t>Villa contemporaine 4 chambres avec piscine, jardin tropical et finitions haut de gamme. Projet éligible au dispositif PDS pour investisseurs étrangers. Rendement locatif estimé à 5-7% par an.</a:t>
            </a:r>
            <a:endParaRPr lang="en-US" sz="950" dirty="0"/>
          </a:p>
        </p:txBody>
      </p:sp>
      <p:pic>
        <p:nvPicPr>
          <p:cNvPr id="18" name="Image 0" descr="preencoded.png">
            <a:hlinkClick r:id="" action="ppaction://noaction"/>
          </p:cNvPr>
          <p:cNvPicPr>
            <a:picLocks noChangeAspect="1"/>
          </p:cNvPicPr>
          <p:nvPr/>
        </p:nvPicPr>
        <p:blipFill>
          <a:blip r:embed="rId3"/>
          <a:stretch>
            <a:fillRect/>
          </a:stretch>
        </p:blipFill>
        <p:spPr>
          <a:xfrm>
            <a:off x="434132" y="4442147"/>
            <a:ext cx="1335212" cy="3411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21643" y="381074"/>
            <a:ext cx="995809" cy="207690"/>
          </a:xfrm>
          <a:prstGeom prst="roundRect">
            <a:avLst>
              <a:gd name="adj" fmla="val 18993"/>
            </a:avLst>
          </a:prstGeom>
          <a:solidFill>
            <a:srgbClr val="EFEADC"/>
          </a:solidFill>
          <a:ln/>
        </p:spPr>
        <p:txBody>
          <a:bodyPr/>
          <a:lstStyle/>
          <a:p>
            <a:endParaRPr lang="fr-FR"/>
          </a:p>
        </p:txBody>
      </p:sp>
      <p:sp>
        <p:nvSpPr>
          <p:cNvPr id="3" name="Text 1"/>
          <p:cNvSpPr/>
          <p:nvPr/>
        </p:nvSpPr>
        <p:spPr>
          <a:xfrm>
            <a:off x="592038" y="416272"/>
            <a:ext cx="1312218" cy="137294"/>
          </a:xfrm>
          <a:prstGeom prst="rect">
            <a:avLst/>
          </a:prstGeom>
          <a:noFill/>
          <a:ln/>
        </p:spPr>
        <p:txBody>
          <a:bodyPr wrap="none" lIns="0" tIns="0" rIns="0" bIns="0" rtlCol="0" anchor="t"/>
          <a:lstStyle/>
          <a:p>
            <a:pPr marL="0" indent="0" algn="l">
              <a:lnSpc>
                <a:spcPct val="122000"/>
              </a:lnSpc>
              <a:buNone/>
            </a:pPr>
            <a:r>
              <a:rPr lang="en-US" sz="700" dirty="0">
                <a:solidFill>
                  <a:srgbClr val="454240"/>
                </a:solidFill>
                <a:latin typeface="DM Sans" pitchFamily="34" charset="0"/>
                <a:ea typeface="DM Sans" pitchFamily="34" charset="-122"/>
                <a:cs typeface="DM Sans" pitchFamily="34" charset="-120"/>
              </a:rPr>
              <a:t>NOTRE DIFFÉRENCE</a:t>
            </a:r>
            <a:endParaRPr lang="en-US" sz="700" dirty="0"/>
          </a:p>
        </p:txBody>
      </p:sp>
      <p:sp>
        <p:nvSpPr>
          <p:cNvPr id="4" name="Text 2"/>
          <p:cNvSpPr/>
          <p:nvPr/>
        </p:nvSpPr>
        <p:spPr>
          <a:xfrm>
            <a:off x="1978149" y="627608"/>
            <a:ext cx="4959028" cy="366861"/>
          </a:xfrm>
          <a:prstGeom prst="rect">
            <a:avLst/>
          </a:prstGeom>
          <a:noFill/>
          <a:ln/>
        </p:spPr>
        <p:txBody>
          <a:bodyPr wrap="none" lIns="0" tIns="0" rIns="0" bIns="0" rtlCol="0" anchor="t"/>
          <a:lstStyle/>
          <a:p>
            <a:pPr marL="0" indent="0" algn="ctr">
              <a:lnSpc>
                <a:spcPct val="104000"/>
              </a:lnSpc>
              <a:buNone/>
            </a:pPr>
            <a:r>
              <a:rPr lang="en-US" sz="2300" dirty="0">
                <a:solidFill>
                  <a:srgbClr val="5C4E3D"/>
                </a:solidFill>
                <a:latin typeface="Libre Baskerville" pitchFamily="34" charset="0"/>
                <a:ea typeface="Libre Baskerville" pitchFamily="34" charset="-122"/>
                <a:cs typeface="Libre Baskerville" pitchFamily="34" charset="-120"/>
              </a:rPr>
              <a:t>Pourquoi nous faire confiance ?</a:t>
            </a:r>
            <a:endParaRPr lang="en-US" sz="2300" dirty="0"/>
          </a:p>
        </p:txBody>
      </p:sp>
      <p:sp>
        <p:nvSpPr>
          <p:cNvPr id="5" name="Text 3"/>
          <p:cNvSpPr/>
          <p:nvPr/>
        </p:nvSpPr>
        <p:spPr>
          <a:xfrm>
            <a:off x="521643" y="1140247"/>
            <a:ext cx="8100640" cy="343346"/>
          </a:xfrm>
          <a:prstGeom prst="rect">
            <a:avLst/>
          </a:prstGeom>
          <a:noFill/>
          <a:ln/>
        </p:spPr>
        <p:txBody>
          <a:bodyPr wrap="square" lIns="0" tIns="0" rIns="0" bIns="0" rtlCol="0" anchor="t">
            <a:normAutofit/>
          </a:bodyPr>
          <a:lstStyle/>
          <a:p>
            <a:pPr marL="0" indent="0" algn="ctr">
              <a:lnSpc>
                <a:spcPct val="122000"/>
              </a:lnSpc>
              <a:buNone/>
            </a:pPr>
            <a:r>
              <a:rPr lang="en-US" sz="900" dirty="0">
                <a:solidFill>
                  <a:srgbClr val="454240"/>
                </a:solidFill>
                <a:latin typeface="DM Sans" pitchFamily="34" charset="0"/>
                <a:ea typeface="DM Sans" pitchFamily="34" charset="-122"/>
                <a:cs typeface="DM Sans" pitchFamily="34" charset="-120"/>
              </a:rPr>
              <a:t>Parce que chaque projet est unique, nous vous offrons un accompagnement personnalisé, basé sur la transparence, l'écoute et une parfaite connaissance du marché mauricien. Voici ce qui nous distingue véritablement.</a:t>
            </a:r>
            <a:endParaRPr lang="en-US" sz="900" dirty="0"/>
          </a:p>
        </p:txBody>
      </p:sp>
      <p:sp>
        <p:nvSpPr>
          <p:cNvPr id="6" name="Shape 4"/>
          <p:cNvSpPr/>
          <p:nvPr/>
        </p:nvSpPr>
        <p:spPr>
          <a:xfrm>
            <a:off x="521643" y="1592907"/>
            <a:ext cx="4001691" cy="1450330"/>
          </a:xfrm>
          <a:prstGeom prst="roundRect">
            <a:avLst>
              <a:gd name="adj" fmla="val 3400"/>
            </a:avLst>
          </a:prstGeom>
          <a:solidFill>
            <a:srgbClr val="EFEADC"/>
          </a:solidFill>
          <a:ln w="4763">
            <a:solidFill>
              <a:srgbClr val="D5D0C2"/>
            </a:solidFill>
            <a:prstDash val="solid"/>
          </a:ln>
        </p:spPr>
        <p:txBody>
          <a:bodyPr/>
          <a:lstStyle/>
          <a:p>
            <a:endParaRPr lang="fr-FR"/>
          </a:p>
        </p:txBody>
      </p:sp>
      <p:sp>
        <p:nvSpPr>
          <p:cNvPr id="7" name="Shape 5"/>
          <p:cNvSpPr/>
          <p:nvPr/>
        </p:nvSpPr>
        <p:spPr>
          <a:xfrm>
            <a:off x="643756" y="1715021"/>
            <a:ext cx="352202" cy="352202"/>
          </a:xfrm>
          <a:prstGeom prst="roundRect">
            <a:avLst>
              <a:gd name="adj" fmla="val 16224861"/>
            </a:avLst>
          </a:prstGeom>
          <a:solidFill>
            <a:srgbClr val="B6A062"/>
          </a:solidFill>
          <a:ln/>
        </p:spPr>
        <p:txBody>
          <a:bodyPr/>
          <a:lstStyle/>
          <a:p>
            <a:endParaRPr lang="fr-F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643" y="1811834"/>
            <a:ext cx="158428" cy="158428"/>
          </a:xfrm>
          <a:prstGeom prst="rect">
            <a:avLst/>
          </a:prstGeom>
        </p:spPr>
      </p:pic>
      <p:sp>
        <p:nvSpPr>
          <p:cNvPr id="9" name="Text 6"/>
          <p:cNvSpPr/>
          <p:nvPr/>
        </p:nvSpPr>
        <p:spPr>
          <a:xfrm>
            <a:off x="643756" y="2164407"/>
            <a:ext cx="2817019" cy="183431"/>
          </a:xfrm>
          <a:prstGeom prst="rect">
            <a:avLst/>
          </a:prstGeom>
          <a:noFill/>
          <a:ln/>
        </p:spPr>
        <p:txBody>
          <a:bodyPr wrap="none" lIns="0" tIns="0" rIns="0" bIns="0" rtlCol="0" anchor="t"/>
          <a:lstStyle/>
          <a:p>
            <a:pPr marL="0" indent="0" algn="l">
              <a:lnSpc>
                <a:spcPct val="104000"/>
              </a:lnSpc>
              <a:buNone/>
            </a:pPr>
            <a:r>
              <a:rPr lang="en-US" sz="1150" dirty="0">
                <a:solidFill>
                  <a:srgbClr val="454240"/>
                </a:solidFill>
                <a:latin typeface="Libre Baskerville" pitchFamily="34" charset="0"/>
                <a:ea typeface="Libre Baskerville" pitchFamily="34" charset="-122"/>
                <a:cs typeface="Libre Baskerville" pitchFamily="34" charset="-120"/>
              </a:rPr>
              <a:t>Accompagnement Personnalisé</a:t>
            </a:r>
            <a:endParaRPr lang="en-US" sz="1150" dirty="0"/>
          </a:p>
        </p:txBody>
      </p:sp>
      <p:sp>
        <p:nvSpPr>
          <p:cNvPr id="10" name="Text 7"/>
          <p:cNvSpPr/>
          <p:nvPr/>
        </p:nvSpPr>
        <p:spPr>
          <a:xfrm>
            <a:off x="643756" y="2406104"/>
            <a:ext cx="3757464"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54240"/>
                </a:solidFill>
                <a:latin typeface="DM Sans" pitchFamily="34" charset="0"/>
                <a:ea typeface="DM Sans" pitchFamily="34" charset="-122"/>
                <a:cs typeface="DM Sans" pitchFamily="34" charset="-120"/>
              </a:rPr>
              <a:t>Un conseiller dédié vous suit du premier contact jusqu'à la finalisation de votre projet. Pas de réponses génériques, chaque dossier est traité avec une attention individuelle et un suivi rigoureux.</a:t>
            </a:r>
            <a:endParaRPr lang="en-US" sz="900" dirty="0"/>
          </a:p>
        </p:txBody>
      </p:sp>
      <p:sp>
        <p:nvSpPr>
          <p:cNvPr id="11" name="Shape 8"/>
          <p:cNvSpPr/>
          <p:nvPr/>
        </p:nvSpPr>
        <p:spPr>
          <a:xfrm>
            <a:off x="4620518" y="1592907"/>
            <a:ext cx="4001765" cy="1450330"/>
          </a:xfrm>
          <a:prstGeom prst="roundRect">
            <a:avLst>
              <a:gd name="adj" fmla="val 3400"/>
            </a:avLst>
          </a:prstGeom>
          <a:solidFill>
            <a:srgbClr val="EFEADC"/>
          </a:solidFill>
          <a:ln w="4763">
            <a:solidFill>
              <a:srgbClr val="D5D0C2"/>
            </a:solidFill>
            <a:prstDash val="solid"/>
          </a:ln>
        </p:spPr>
        <p:txBody>
          <a:bodyPr/>
          <a:lstStyle/>
          <a:p>
            <a:endParaRPr lang="fr-FR"/>
          </a:p>
        </p:txBody>
      </p:sp>
      <p:sp>
        <p:nvSpPr>
          <p:cNvPr id="12" name="Shape 9"/>
          <p:cNvSpPr/>
          <p:nvPr/>
        </p:nvSpPr>
        <p:spPr>
          <a:xfrm>
            <a:off x="4742631" y="1715021"/>
            <a:ext cx="352202" cy="352202"/>
          </a:xfrm>
          <a:prstGeom prst="roundRect">
            <a:avLst>
              <a:gd name="adj" fmla="val 16224861"/>
            </a:avLst>
          </a:prstGeom>
          <a:solidFill>
            <a:srgbClr val="B6A062"/>
          </a:solidFill>
          <a:ln/>
        </p:spPr>
        <p:txBody>
          <a:bodyPr/>
          <a:lstStyle/>
          <a:p>
            <a:endParaRPr lang="fr-FR"/>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39519" y="1811834"/>
            <a:ext cx="158428" cy="158428"/>
          </a:xfrm>
          <a:prstGeom prst="rect">
            <a:avLst/>
          </a:prstGeom>
        </p:spPr>
      </p:pic>
      <p:sp>
        <p:nvSpPr>
          <p:cNvPr id="14" name="Text 10"/>
          <p:cNvSpPr/>
          <p:nvPr/>
        </p:nvSpPr>
        <p:spPr>
          <a:xfrm>
            <a:off x="4742631" y="2164407"/>
            <a:ext cx="1983581" cy="183431"/>
          </a:xfrm>
          <a:prstGeom prst="rect">
            <a:avLst/>
          </a:prstGeom>
          <a:noFill/>
          <a:ln/>
        </p:spPr>
        <p:txBody>
          <a:bodyPr wrap="none" lIns="0" tIns="0" rIns="0" bIns="0" rtlCol="0" anchor="t"/>
          <a:lstStyle/>
          <a:p>
            <a:pPr marL="0" indent="0" algn="l">
              <a:lnSpc>
                <a:spcPct val="104000"/>
              </a:lnSpc>
              <a:buNone/>
            </a:pPr>
            <a:r>
              <a:rPr lang="en-US" sz="1150" dirty="0">
                <a:solidFill>
                  <a:srgbClr val="454240"/>
                </a:solidFill>
                <a:latin typeface="Libre Baskerville" pitchFamily="34" charset="0"/>
                <a:ea typeface="Libre Baskerville" pitchFamily="34" charset="-122"/>
                <a:cs typeface="Libre Baskerville" pitchFamily="34" charset="-120"/>
              </a:rPr>
              <a:t>Transparence Totale</a:t>
            </a:r>
            <a:endParaRPr lang="en-US" sz="1150" dirty="0"/>
          </a:p>
        </p:txBody>
      </p:sp>
      <p:sp>
        <p:nvSpPr>
          <p:cNvPr id="15" name="Text 11"/>
          <p:cNvSpPr/>
          <p:nvPr/>
        </p:nvSpPr>
        <p:spPr>
          <a:xfrm>
            <a:off x="4742631" y="2406104"/>
            <a:ext cx="3757538"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54240"/>
                </a:solidFill>
                <a:latin typeface="DM Sans" pitchFamily="34" charset="0"/>
                <a:ea typeface="DM Sans" pitchFamily="34" charset="-122"/>
                <a:cs typeface="DM Sans" pitchFamily="34" charset="-120"/>
              </a:rPr>
              <a:t>Nous vous informons à chaque étape : prix du marché, contraintes légales, délais réalistes. Aucune surprise, aucune commission cachée. Votre confiance est notre priorité absolue.</a:t>
            </a:r>
            <a:endParaRPr lang="en-US" sz="900" dirty="0"/>
          </a:p>
        </p:txBody>
      </p:sp>
      <p:sp>
        <p:nvSpPr>
          <p:cNvPr id="16" name="Shape 12"/>
          <p:cNvSpPr/>
          <p:nvPr/>
        </p:nvSpPr>
        <p:spPr>
          <a:xfrm>
            <a:off x="521643" y="3140422"/>
            <a:ext cx="4001691" cy="1622003"/>
          </a:xfrm>
          <a:prstGeom prst="roundRect">
            <a:avLst>
              <a:gd name="adj" fmla="val 3040"/>
            </a:avLst>
          </a:prstGeom>
          <a:solidFill>
            <a:srgbClr val="EFEADC"/>
          </a:solidFill>
          <a:ln w="4763">
            <a:solidFill>
              <a:srgbClr val="D5D0C2"/>
            </a:solidFill>
            <a:prstDash val="solid"/>
          </a:ln>
        </p:spPr>
        <p:txBody>
          <a:bodyPr/>
          <a:lstStyle/>
          <a:p>
            <a:endParaRPr lang="fr-FR"/>
          </a:p>
        </p:txBody>
      </p:sp>
      <p:sp>
        <p:nvSpPr>
          <p:cNvPr id="17" name="Shape 13"/>
          <p:cNvSpPr/>
          <p:nvPr/>
        </p:nvSpPr>
        <p:spPr>
          <a:xfrm>
            <a:off x="643756" y="3262536"/>
            <a:ext cx="352202" cy="352202"/>
          </a:xfrm>
          <a:prstGeom prst="roundRect">
            <a:avLst>
              <a:gd name="adj" fmla="val 16224861"/>
            </a:avLst>
          </a:prstGeom>
          <a:solidFill>
            <a:srgbClr val="B6A062"/>
          </a:solidFill>
          <a:ln/>
        </p:spPr>
        <p:txBody>
          <a:bodyPr/>
          <a:lstStyle/>
          <a:p>
            <a:endParaRPr lang="fr-FR"/>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0643" y="3359348"/>
            <a:ext cx="158428" cy="158428"/>
          </a:xfrm>
          <a:prstGeom prst="rect">
            <a:avLst/>
          </a:prstGeom>
        </p:spPr>
      </p:pic>
      <p:sp>
        <p:nvSpPr>
          <p:cNvPr id="19" name="Text 14"/>
          <p:cNvSpPr/>
          <p:nvPr/>
        </p:nvSpPr>
        <p:spPr>
          <a:xfrm>
            <a:off x="643756" y="3711922"/>
            <a:ext cx="2317552" cy="183431"/>
          </a:xfrm>
          <a:prstGeom prst="rect">
            <a:avLst/>
          </a:prstGeom>
          <a:noFill/>
          <a:ln/>
        </p:spPr>
        <p:txBody>
          <a:bodyPr wrap="none" lIns="0" tIns="0" rIns="0" bIns="0" rtlCol="0" anchor="t"/>
          <a:lstStyle/>
          <a:p>
            <a:pPr marL="0" indent="0" algn="l">
              <a:lnSpc>
                <a:spcPct val="104000"/>
              </a:lnSpc>
              <a:buNone/>
            </a:pPr>
            <a:r>
              <a:rPr lang="en-US" sz="1150" dirty="0">
                <a:solidFill>
                  <a:srgbClr val="454240"/>
                </a:solidFill>
                <a:latin typeface="Libre Baskerville" pitchFamily="34" charset="0"/>
                <a:ea typeface="Libre Baskerville" pitchFamily="34" charset="-122"/>
                <a:cs typeface="Libre Baskerville" pitchFamily="34" charset="-120"/>
              </a:rPr>
              <a:t>Connaissance du Terrain</a:t>
            </a:r>
            <a:endParaRPr lang="en-US" sz="1150" dirty="0"/>
          </a:p>
        </p:txBody>
      </p:sp>
      <p:sp>
        <p:nvSpPr>
          <p:cNvPr id="20" name="Text 15"/>
          <p:cNvSpPr/>
          <p:nvPr/>
        </p:nvSpPr>
        <p:spPr>
          <a:xfrm>
            <a:off x="643756" y="3953619"/>
            <a:ext cx="3757464" cy="686693"/>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54240"/>
                </a:solidFill>
                <a:latin typeface="DM Sans" pitchFamily="34" charset="0"/>
                <a:ea typeface="DM Sans" pitchFamily="34" charset="-122"/>
                <a:cs typeface="DM Sans" pitchFamily="34" charset="-120"/>
              </a:rPr>
              <a:t>Nés et actifs à Maurice, nous connaissons chaque région, chaque micro-marché, les projets d'infrastructure à venir et les zones à fort potentiel. Une expertise locale que les agences étrangères ne peuvent pas vous offrir.</a:t>
            </a:r>
            <a:endParaRPr lang="en-US" sz="900" dirty="0"/>
          </a:p>
        </p:txBody>
      </p:sp>
      <p:sp>
        <p:nvSpPr>
          <p:cNvPr id="21" name="Shape 16"/>
          <p:cNvSpPr/>
          <p:nvPr/>
        </p:nvSpPr>
        <p:spPr>
          <a:xfrm>
            <a:off x="4620518" y="3140422"/>
            <a:ext cx="4001765" cy="1622003"/>
          </a:xfrm>
          <a:prstGeom prst="roundRect">
            <a:avLst>
              <a:gd name="adj" fmla="val 3040"/>
            </a:avLst>
          </a:prstGeom>
          <a:solidFill>
            <a:srgbClr val="EFEADC"/>
          </a:solidFill>
          <a:ln w="4763">
            <a:solidFill>
              <a:srgbClr val="D5D0C2"/>
            </a:solidFill>
            <a:prstDash val="solid"/>
          </a:ln>
        </p:spPr>
        <p:txBody>
          <a:bodyPr/>
          <a:lstStyle/>
          <a:p>
            <a:endParaRPr lang="fr-FR"/>
          </a:p>
        </p:txBody>
      </p:sp>
      <p:sp>
        <p:nvSpPr>
          <p:cNvPr id="22" name="Shape 17"/>
          <p:cNvSpPr/>
          <p:nvPr/>
        </p:nvSpPr>
        <p:spPr>
          <a:xfrm>
            <a:off x="4742631" y="3262536"/>
            <a:ext cx="352202" cy="352202"/>
          </a:xfrm>
          <a:prstGeom prst="roundRect">
            <a:avLst>
              <a:gd name="adj" fmla="val 16224861"/>
            </a:avLst>
          </a:prstGeom>
          <a:solidFill>
            <a:srgbClr val="B6A062"/>
          </a:solidFill>
          <a:ln/>
        </p:spPr>
        <p:txBody>
          <a:bodyPr/>
          <a:lstStyle/>
          <a:p>
            <a:endParaRPr lang="fr-FR"/>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39519" y="3359348"/>
            <a:ext cx="158428" cy="158428"/>
          </a:xfrm>
          <a:prstGeom prst="rect">
            <a:avLst/>
          </a:prstGeom>
        </p:spPr>
      </p:pic>
      <p:sp>
        <p:nvSpPr>
          <p:cNvPr id="24" name="Text 18"/>
          <p:cNvSpPr/>
          <p:nvPr/>
        </p:nvSpPr>
        <p:spPr>
          <a:xfrm>
            <a:off x="4742631" y="3711922"/>
            <a:ext cx="2094235" cy="183431"/>
          </a:xfrm>
          <a:prstGeom prst="rect">
            <a:avLst/>
          </a:prstGeom>
          <a:noFill/>
          <a:ln/>
        </p:spPr>
        <p:txBody>
          <a:bodyPr wrap="none" lIns="0" tIns="0" rIns="0" bIns="0" rtlCol="0" anchor="t"/>
          <a:lstStyle/>
          <a:p>
            <a:pPr marL="0" indent="0" algn="l">
              <a:lnSpc>
                <a:spcPct val="104000"/>
              </a:lnSpc>
              <a:buNone/>
            </a:pPr>
            <a:r>
              <a:rPr lang="en-US" sz="1150" dirty="0">
                <a:solidFill>
                  <a:srgbClr val="454240"/>
                </a:solidFill>
                <a:latin typeface="Libre Baskerville" pitchFamily="34" charset="0"/>
                <a:ea typeface="Libre Baskerville" pitchFamily="34" charset="-122"/>
                <a:cs typeface="Libre Baskerville" pitchFamily="34" charset="-120"/>
              </a:rPr>
              <a:t>Réseau de Partenaires</a:t>
            </a:r>
            <a:endParaRPr lang="en-US" sz="1150" dirty="0"/>
          </a:p>
        </p:txBody>
      </p:sp>
      <p:sp>
        <p:nvSpPr>
          <p:cNvPr id="25" name="Text 19"/>
          <p:cNvSpPr/>
          <p:nvPr/>
        </p:nvSpPr>
        <p:spPr>
          <a:xfrm>
            <a:off x="4742631" y="3953619"/>
            <a:ext cx="3757538"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454240"/>
                </a:solidFill>
                <a:latin typeface="DM Sans" pitchFamily="34" charset="0"/>
                <a:ea typeface="DM Sans" pitchFamily="34" charset="-122"/>
                <a:cs typeface="DM Sans" pitchFamily="34" charset="-120"/>
              </a:rPr>
              <a:t>Architectes, notaires, entrepreneurs, avocats fiscalistes, banques locales — notre réseau de partenaires qualifiés vous garantit des prestations de qualité à chaque étape de votre projet immobilier.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349" y="432271"/>
            <a:ext cx="1167780" cy="248543"/>
          </a:xfrm>
          <a:prstGeom prst="roundRect">
            <a:avLst>
              <a:gd name="adj" fmla="val 17668"/>
            </a:avLst>
          </a:prstGeom>
          <a:noFill/>
          <a:ln w="4763">
            <a:solidFill>
              <a:srgbClr val="B6A062"/>
            </a:solidFill>
            <a:prstDash val="solid"/>
          </a:ln>
        </p:spPr>
        <p:txBody>
          <a:bodyPr/>
          <a:lstStyle/>
          <a:p>
            <a:endParaRPr lang="fr-FR"/>
          </a:p>
        </p:txBody>
      </p:sp>
      <p:sp>
        <p:nvSpPr>
          <p:cNvPr id="3" name="Text 1"/>
          <p:cNvSpPr/>
          <p:nvPr/>
        </p:nvSpPr>
        <p:spPr>
          <a:xfrm>
            <a:off x="540469" y="476176"/>
            <a:ext cx="1458739" cy="160734"/>
          </a:xfrm>
          <a:prstGeom prst="rect">
            <a:avLst/>
          </a:prstGeom>
          <a:noFill/>
          <a:ln/>
        </p:spPr>
        <p:txBody>
          <a:bodyPr wrap="none" lIns="0" tIns="0" rIns="0" bIns="0" rtlCol="0" anchor="t"/>
          <a:lstStyle/>
          <a:p>
            <a:pPr marL="0" indent="0" algn="l">
              <a:lnSpc>
                <a:spcPct val="128000"/>
              </a:lnSpc>
              <a:buNone/>
            </a:pPr>
            <a:r>
              <a:rPr lang="en-US" sz="800" dirty="0">
                <a:solidFill>
                  <a:srgbClr val="B6A062"/>
                </a:solidFill>
                <a:latin typeface="DM Sans" pitchFamily="34" charset="0"/>
                <a:ea typeface="DM Sans" pitchFamily="34" charset="-122"/>
                <a:cs typeface="DM Sans" pitchFamily="34" charset="-120"/>
              </a:rPr>
              <a:t>POUR LES EXPATRIÉS</a:t>
            </a:r>
            <a:endParaRPr lang="en-US" sz="800" dirty="0"/>
          </a:p>
        </p:txBody>
      </p:sp>
      <p:sp>
        <p:nvSpPr>
          <p:cNvPr id="4" name="Text 2"/>
          <p:cNvSpPr/>
          <p:nvPr/>
        </p:nvSpPr>
        <p:spPr>
          <a:xfrm>
            <a:off x="457349" y="728960"/>
            <a:ext cx="7029004" cy="408384"/>
          </a:xfrm>
          <a:prstGeom prst="rect">
            <a:avLst/>
          </a:prstGeom>
          <a:noFill/>
          <a:ln/>
        </p:spPr>
        <p:txBody>
          <a:bodyPr wrap="none" lIns="0" tIns="0" rIns="0" bIns="0" rtlCol="0" anchor="t"/>
          <a:lstStyle/>
          <a:p>
            <a:pPr marL="0" indent="0" algn="l">
              <a:lnSpc>
                <a:spcPct val="104000"/>
              </a:lnSpc>
              <a:buNone/>
            </a:pPr>
            <a:r>
              <a:rPr lang="en-US" sz="2550" dirty="0">
                <a:solidFill>
                  <a:srgbClr val="5C4E3D"/>
                </a:solidFill>
                <a:latin typeface="Libre Baskerville" pitchFamily="34" charset="0"/>
                <a:ea typeface="Libre Baskerville" pitchFamily="34" charset="-122"/>
                <a:cs typeface="Libre Baskerville" pitchFamily="34" charset="-120"/>
              </a:rPr>
              <a:t>Investir à l'île Maurice en toute sérénité</a:t>
            </a:r>
            <a:endParaRPr lang="en-US" sz="2550" dirty="0"/>
          </a:p>
        </p:txBody>
      </p:sp>
      <p:sp>
        <p:nvSpPr>
          <p:cNvPr id="5" name="Text 3"/>
          <p:cNvSpPr/>
          <p:nvPr/>
        </p:nvSpPr>
        <p:spPr>
          <a:xfrm>
            <a:off x="457349" y="1318022"/>
            <a:ext cx="8229302" cy="803374"/>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54240"/>
                </a:solidFill>
                <a:latin typeface="DM Sans" pitchFamily="34" charset="0"/>
                <a:ea typeface="DM Sans" pitchFamily="34" charset="-122"/>
                <a:cs typeface="DM Sans" pitchFamily="34" charset="-120"/>
              </a:rPr>
              <a:t>L'île Maurice est bien plus qu'une destination de vacances. C'est l'une des places les plus attractives d'Afrique et de l'Océan Indien pour les investisseurs internationaux. Avec un cadre légal sécurisé, une fiscalité parmi les plus avantageuses au monde et une qualité de vie incomparable, Maurice attire chaque année des milliers d'expatriés et d'investisseurs étrangers souhaitant y poser leurs valises ou diversifier leur patrimoine.</a:t>
            </a:r>
            <a:endParaRPr lang="en-US" sz="1000" dirty="0"/>
          </a:p>
        </p:txBody>
      </p:sp>
      <p:sp>
        <p:nvSpPr>
          <p:cNvPr id="6" name="Shape 4"/>
          <p:cNvSpPr/>
          <p:nvPr/>
        </p:nvSpPr>
        <p:spPr>
          <a:xfrm>
            <a:off x="363289" y="2256904"/>
            <a:ext cx="4143375" cy="1959397"/>
          </a:xfrm>
          <a:prstGeom prst="roundRect">
            <a:avLst>
              <a:gd name="adj" fmla="val 4802"/>
            </a:avLst>
          </a:prstGeom>
          <a:solidFill>
            <a:srgbClr val="204C8E"/>
          </a:solidFill>
          <a:ln/>
        </p:spPr>
        <p:txBody>
          <a:bodyPr/>
          <a:lstStyle/>
          <a:p>
            <a:endParaRPr lang="fr-FR"/>
          </a:p>
        </p:txBody>
      </p:sp>
      <p:sp>
        <p:nvSpPr>
          <p:cNvPr id="7" name="Text 5"/>
          <p:cNvSpPr/>
          <p:nvPr/>
        </p:nvSpPr>
        <p:spPr>
          <a:xfrm>
            <a:off x="493961" y="2377380"/>
            <a:ext cx="2090812" cy="204118"/>
          </a:xfrm>
          <a:prstGeom prst="rect">
            <a:avLst/>
          </a:prstGeom>
          <a:noFill/>
          <a:ln/>
        </p:spPr>
        <p:txBody>
          <a:bodyPr wrap="none" lIns="0" tIns="0" rIns="0" bIns="0" rtlCol="0" anchor="t"/>
          <a:lstStyle/>
          <a:p>
            <a:pPr marL="0" indent="0" algn="l">
              <a:lnSpc>
                <a:spcPct val="104000"/>
              </a:lnSpc>
              <a:buNone/>
            </a:pPr>
            <a:r>
              <a:rPr lang="en-US" sz="1250" dirty="0">
                <a:solidFill>
                  <a:srgbClr val="FFFFFF"/>
                </a:solidFill>
                <a:latin typeface="Libre Baskerville" pitchFamily="34" charset="0"/>
                <a:ea typeface="Libre Baskerville" pitchFamily="34" charset="-122"/>
                <a:cs typeface="Libre Baskerville" pitchFamily="34" charset="-120"/>
              </a:rPr>
              <a:t>Pourquoi Maurice ?</a:t>
            </a:r>
            <a:endParaRPr lang="en-US" sz="1250" dirty="0"/>
          </a:p>
        </p:txBody>
      </p:sp>
      <p:sp>
        <p:nvSpPr>
          <p:cNvPr id="8" name="Text 6"/>
          <p:cNvSpPr/>
          <p:nvPr/>
        </p:nvSpPr>
        <p:spPr>
          <a:xfrm>
            <a:off x="493961" y="2701975"/>
            <a:ext cx="3882033" cy="1172691"/>
          </a:xfrm>
          <a:prstGeom prst="rect">
            <a:avLst/>
          </a:prstGeom>
          <a:noFill/>
          <a:ln/>
        </p:spPr>
        <p:txBody>
          <a:bodyPr wrap="square" lIns="0" tIns="0" rIns="0" bIns="0" rtlCol="0" anchor="t">
            <a:normAutofit/>
          </a:bodyPr>
          <a:lstStyle/>
          <a:p>
            <a:pPr marL="342900" indent="-342900" algn="l">
              <a:lnSpc>
                <a:spcPct val="128000"/>
              </a:lnSpc>
              <a:buSzPct val="100000"/>
              <a:buChar char="•"/>
            </a:pPr>
            <a:r>
              <a:rPr lang="en-US" sz="1000" dirty="0">
                <a:solidFill>
                  <a:srgbClr val="FFFFFF"/>
                </a:solidFill>
                <a:latin typeface="DM Sans" pitchFamily="34" charset="0"/>
                <a:ea typeface="DM Sans" pitchFamily="34" charset="-122"/>
                <a:cs typeface="DM Sans" pitchFamily="34" charset="-120"/>
              </a:rPr>
              <a:t>Impôt sur le revenu plafonné à 15%</a:t>
            </a:r>
            <a:endParaRPr lang="en-US" sz="1000" dirty="0"/>
          </a:p>
          <a:p>
            <a:pPr marL="342900" indent="-342900" algn="l">
              <a:lnSpc>
                <a:spcPct val="128000"/>
              </a:lnSpc>
              <a:buSzPct val="100000"/>
              <a:buChar char="•"/>
            </a:pPr>
            <a:r>
              <a:rPr lang="en-US" sz="1000" dirty="0">
                <a:solidFill>
                  <a:srgbClr val="FFFFFF"/>
                </a:solidFill>
                <a:latin typeface="DM Sans" pitchFamily="34" charset="0"/>
                <a:ea typeface="DM Sans" pitchFamily="34" charset="-122"/>
                <a:cs typeface="DM Sans" pitchFamily="34" charset="-120"/>
              </a:rPr>
              <a:t>Pas de taxe sur les plus-values immobilières</a:t>
            </a:r>
            <a:endParaRPr lang="en-US" sz="1000" dirty="0"/>
          </a:p>
          <a:p>
            <a:pPr marL="342900" indent="-342900" algn="l">
              <a:lnSpc>
                <a:spcPct val="128000"/>
              </a:lnSpc>
              <a:buSzPct val="100000"/>
              <a:buChar char="•"/>
            </a:pPr>
            <a:r>
              <a:rPr lang="en-US" sz="1000" dirty="0">
                <a:solidFill>
                  <a:srgbClr val="FFFFFF"/>
                </a:solidFill>
                <a:latin typeface="DM Sans" pitchFamily="34" charset="0"/>
                <a:ea typeface="DM Sans" pitchFamily="34" charset="-122"/>
                <a:cs typeface="DM Sans" pitchFamily="34" charset="-120"/>
              </a:rPr>
              <a:t>Pas de droits de succession pour les non-résidents</a:t>
            </a:r>
            <a:endParaRPr lang="en-US" sz="1000" dirty="0"/>
          </a:p>
          <a:p>
            <a:pPr marL="342900" indent="-342900" algn="l">
              <a:lnSpc>
                <a:spcPct val="128000"/>
              </a:lnSpc>
              <a:buSzPct val="100000"/>
              <a:buChar char="•"/>
            </a:pPr>
            <a:r>
              <a:rPr lang="en-US" sz="1000" dirty="0">
                <a:solidFill>
                  <a:srgbClr val="FFFFFF"/>
                </a:solidFill>
                <a:latin typeface="DM Sans" pitchFamily="34" charset="0"/>
                <a:ea typeface="DM Sans" pitchFamily="34" charset="-122"/>
                <a:cs typeface="DM Sans" pitchFamily="34" charset="-120"/>
              </a:rPr>
              <a:t>Stabilité politique et économique reconnue</a:t>
            </a:r>
            <a:endParaRPr lang="en-US" sz="1000" dirty="0"/>
          </a:p>
          <a:p>
            <a:pPr marL="342900" indent="-342900" algn="l">
              <a:lnSpc>
                <a:spcPct val="128000"/>
              </a:lnSpc>
              <a:buSzPct val="100000"/>
              <a:buChar char="•"/>
            </a:pPr>
            <a:r>
              <a:rPr lang="en-US" sz="1000" dirty="0">
                <a:solidFill>
                  <a:srgbClr val="FFFFFF"/>
                </a:solidFill>
                <a:latin typeface="DM Sans" pitchFamily="34" charset="0"/>
                <a:ea typeface="DM Sans" pitchFamily="34" charset="-122"/>
                <a:cs typeface="DM Sans" pitchFamily="34" charset="-120"/>
              </a:rPr>
              <a:t>Accès à un réseau de conventions fiscales internationales</a:t>
            </a:r>
            <a:endParaRPr lang="en-US" sz="1000" dirty="0"/>
          </a:p>
        </p:txBody>
      </p:sp>
      <p:sp>
        <p:nvSpPr>
          <p:cNvPr id="9" name="Shape 7"/>
          <p:cNvSpPr/>
          <p:nvPr/>
        </p:nvSpPr>
        <p:spPr>
          <a:xfrm>
            <a:off x="4642098" y="2256904"/>
            <a:ext cx="4143375" cy="1959397"/>
          </a:xfrm>
          <a:prstGeom prst="roundRect">
            <a:avLst>
              <a:gd name="adj" fmla="val 4802"/>
            </a:avLst>
          </a:prstGeom>
          <a:solidFill>
            <a:srgbClr val="F7EDD4"/>
          </a:solidFill>
          <a:ln/>
        </p:spPr>
        <p:txBody>
          <a:bodyPr/>
          <a:lstStyle/>
          <a:p>
            <a:endParaRPr lang="fr-FR"/>
          </a:p>
        </p:txBody>
      </p:sp>
      <p:sp>
        <p:nvSpPr>
          <p:cNvPr id="10" name="Text 8"/>
          <p:cNvSpPr/>
          <p:nvPr/>
        </p:nvSpPr>
        <p:spPr>
          <a:xfrm>
            <a:off x="4772769" y="2377380"/>
            <a:ext cx="3890442" cy="204118"/>
          </a:xfrm>
          <a:prstGeom prst="rect">
            <a:avLst/>
          </a:prstGeom>
          <a:noFill/>
          <a:ln/>
        </p:spPr>
        <p:txBody>
          <a:bodyPr wrap="none" lIns="0" tIns="0" rIns="0" bIns="0" rtlCol="0" anchor="t"/>
          <a:lstStyle/>
          <a:p>
            <a:pPr marL="0" indent="0" algn="l">
              <a:lnSpc>
                <a:spcPct val="104000"/>
              </a:lnSpc>
              <a:buNone/>
            </a:pPr>
            <a:r>
              <a:rPr lang="en-US" sz="1250" dirty="0">
                <a:solidFill>
                  <a:srgbClr val="5C4E3D"/>
                </a:solidFill>
                <a:latin typeface="Libre Baskerville" pitchFamily="34" charset="0"/>
                <a:ea typeface="Libre Baskerville" pitchFamily="34" charset="-122"/>
                <a:cs typeface="Libre Baskerville" pitchFamily="34" charset="-120"/>
              </a:rPr>
              <a:t>Un processus simplifié pour les étrangers</a:t>
            </a:r>
            <a:endParaRPr lang="en-US" sz="1250" dirty="0"/>
          </a:p>
        </p:txBody>
      </p:sp>
      <p:sp>
        <p:nvSpPr>
          <p:cNvPr id="11" name="Text 9"/>
          <p:cNvSpPr/>
          <p:nvPr/>
        </p:nvSpPr>
        <p:spPr>
          <a:xfrm>
            <a:off x="4772769" y="2701975"/>
            <a:ext cx="3882033" cy="1405905"/>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54240"/>
                </a:solidFill>
                <a:latin typeface="DM Sans" pitchFamily="34" charset="0"/>
                <a:ea typeface="DM Sans" pitchFamily="34" charset="-122"/>
                <a:cs typeface="DM Sans" pitchFamily="34" charset="-120"/>
              </a:rPr>
              <a:t>Les investisseurs étrangers peuvent acquérir des biens immobiliers à Maurice dans le cadre de dispositifs réglementés comme le PDS (Property Development Scheme) ou l'IRS. Ces programmes permettent d'obtenir un permis de résidence permanent lors de l'achat d'un bien qualifié. Nous vous guidons pas à pas dans ces démarches administratives et légales, en coordination avec nos partenaires juridiques et fiscaux agréés.</a:t>
            </a:r>
            <a:endParaRPr lang="en-US" sz="1000" dirty="0"/>
          </a:p>
        </p:txBody>
      </p:sp>
      <p:pic>
        <p:nvPicPr>
          <p:cNvPr id="12" name="Image 0" descr="preencoded.png">
            <a:hlinkClick r:id="" action="ppaction://noaction"/>
          </p:cNvPr>
          <p:cNvPicPr>
            <a:picLocks noChangeAspect="1"/>
          </p:cNvPicPr>
          <p:nvPr/>
        </p:nvPicPr>
        <p:blipFill>
          <a:blip r:embed="rId3"/>
          <a:stretch>
            <a:fillRect/>
          </a:stretch>
        </p:blipFill>
        <p:spPr>
          <a:xfrm>
            <a:off x="457349" y="4351809"/>
            <a:ext cx="2110606" cy="3593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362298" y="266402"/>
            <a:ext cx="628352" cy="154409"/>
          </a:xfrm>
          <a:prstGeom prst="roundRect">
            <a:avLst>
              <a:gd name="adj" fmla="val 20245"/>
            </a:avLst>
          </a:prstGeom>
          <a:solidFill>
            <a:srgbClr val="EFEADC"/>
          </a:solidFill>
          <a:ln/>
        </p:spPr>
        <p:txBody>
          <a:bodyPr/>
          <a:lstStyle/>
          <a:p>
            <a:endParaRPr lang="fr-FR"/>
          </a:p>
        </p:txBody>
      </p:sp>
      <p:sp>
        <p:nvSpPr>
          <p:cNvPr id="3" name="Text 1"/>
          <p:cNvSpPr/>
          <p:nvPr/>
        </p:nvSpPr>
        <p:spPr>
          <a:xfrm>
            <a:off x="1418109" y="294308"/>
            <a:ext cx="973931" cy="98599"/>
          </a:xfrm>
          <a:prstGeom prst="rect">
            <a:avLst/>
          </a:prstGeom>
          <a:noFill/>
          <a:ln/>
        </p:spPr>
        <p:txBody>
          <a:bodyPr wrap="none" lIns="0" tIns="0" rIns="0" bIns="0" rtlCol="0" anchor="t"/>
          <a:lstStyle/>
          <a:p>
            <a:pPr marL="0" indent="0" algn="l">
              <a:lnSpc>
                <a:spcPct val="110000"/>
              </a:lnSpc>
              <a:buNone/>
            </a:pPr>
            <a:r>
              <a:rPr lang="en-US" sz="550" dirty="0">
                <a:solidFill>
                  <a:srgbClr val="454240"/>
                </a:solidFill>
                <a:latin typeface="DM Sans" pitchFamily="34" charset="0"/>
                <a:ea typeface="DM Sans" pitchFamily="34" charset="-122"/>
                <a:cs typeface="DM Sans" pitchFamily="34" charset="-120"/>
              </a:rPr>
              <a:t>TÉMOIGNAGES</a:t>
            </a:r>
            <a:endParaRPr lang="en-US" sz="550" dirty="0"/>
          </a:p>
        </p:txBody>
      </p:sp>
      <p:sp>
        <p:nvSpPr>
          <p:cNvPr id="4" name="Text 2"/>
          <p:cNvSpPr/>
          <p:nvPr/>
        </p:nvSpPr>
        <p:spPr>
          <a:xfrm>
            <a:off x="2875806" y="445219"/>
            <a:ext cx="3163788" cy="290736"/>
          </a:xfrm>
          <a:prstGeom prst="rect">
            <a:avLst/>
          </a:prstGeom>
          <a:noFill/>
          <a:ln/>
        </p:spPr>
        <p:txBody>
          <a:bodyPr wrap="none" lIns="0" tIns="0" rIns="0" bIns="0" rtlCol="0" anchor="t"/>
          <a:lstStyle/>
          <a:p>
            <a:pPr marL="0" indent="0" algn="ctr">
              <a:lnSpc>
                <a:spcPct val="104000"/>
              </a:lnSpc>
              <a:buNone/>
            </a:pPr>
            <a:r>
              <a:rPr lang="en-US" sz="1800" dirty="0">
                <a:solidFill>
                  <a:srgbClr val="5C4E3D"/>
                </a:solidFill>
                <a:latin typeface="Libre Baskerville" pitchFamily="34" charset="0"/>
                <a:ea typeface="Libre Baskerville" pitchFamily="34" charset="-122"/>
                <a:cs typeface="Libre Baskerville" pitchFamily="34" charset="-120"/>
              </a:rPr>
              <a:t>Ce que disent nos clients</a:t>
            </a:r>
            <a:endParaRPr lang="en-US" sz="1800" dirty="0"/>
          </a:p>
        </p:txBody>
      </p:sp>
      <p:sp>
        <p:nvSpPr>
          <p:cNvPr id="5" name="Text 3"/>
          <p:cNvSpPr/>
          <p:nvPr/>
        </p:nvSpPr>
        <p:spPr>
          <a:xfrm>
            <a:off x="1362298" y="827484"/>
            <a:ext cx="6419404" cy="246459"/>
          </a:xfrm>
          <a:prstGeom prst="rect">
            <a:avLst/>
          </a:prstGeom>
          <a:noFill/>
          <a:ln/>
        </p:spPr>
        <p:txBody>
          <a:bodyPr wrap="square" lIns="0" tIns="0" rIns="0" bIns="0" rtlCol="0" anchor="t">
            <a:normAutofit/>
          </a:bodyPr>
          <a:lstStyle/>
          <a:p>
            <a:pPr marL="0" indent="0" algn="ctr">
              <a:lnSpc>
                <a:spcPct val="110000"/>
              </a:lnSpc>
              <a:buNone/>
            </a:pPr>
            <a:r>
              <a:rPr lang="en-US" sz="700" dirty="0">
                <a:solidFill>
                  <a:srgbClr val="454240"/>
                </a:solidFill>
                <a:latin typeface="DM Sans" pitchFamily="34" charset="0"/>
                <a:ea typeface="DM Sans" pitchFamily="34" charset="-122"/>
                <a:cs typeface="DM Sans" pitchFamily="34" charset="-120"/>
              </a:rPr>
              <a:t>La confiance de nos clients est notre plus belle récompense. Découvrez les expériences de Mauriciens et d'investisseurs étrangers qui ont concrétisé leur projet immobilier avec notre accompagnement.</a:t>
            </a:r>
            <a:endParaRPr lang="en-US" sz="700" dirty="0"/>
          </a:p>
        </p:txBody>
      </p:sp>
      <p:sp>
        <p:nvSpPr>
          <p:cNvPr id="6" name="Shape 4"/>
          <p:cNvSpPr/>
          <p:nvPr/>
        </p:nvSpPr>
        <p:spPr>
          <a:xfrm>
            <a:off x="1362298" y="1142628"/>
            <a:ext cx="2099072" cy="1734443"/>
          </a:xfrm>
          <a:prstGeom prst="roundRect">
            <a:avLst>
              <a:gd name="adj" fmla="val 2253"/>
            </a:avLst>
          </a:prstGeom>
          <a:solidFill>
            <a:srgbClr val="FFFDFA"/>
          </a:solidFill>
          <a:ln w="9525">
            <a:solidFill>
              <a:srgbClr val="D5D0C2"/>
            </a:solidFill>
            <a:prstDash val="solid"/>
          </a:ln>
        </p:spPr>
        <p:txBody>
          <a:bodyPr/>
          <a:lstStyle/>
          <a:p>
            <a:endParaRPr lang="fr-FR"/>
          </a:p>
        </p:txBody>
      </p:sp>
      <p:pic>
        <p:nvPicPr>
          <p:cNvPr id="7" name="Image 0" descr="preencoded.png"/>
          <p:cNvPicPr>
            <a:picLocks noChangeAspect="1"/>
          </p:cNvPicPr>
          <p:nvPr/>
        </p:nvPicPr>
        <p:blipFill>
          <a:blip r:embed="rId3"/>
          <a:stretch>
            <a:fillRect/>
          </a:stretch>
        </p:blipFill>
        <p:spPr>
          <a:xfrm>
            <a:off x="1316013" y="1096342"/>
            <a:ext cx="111621" cy="111621"/>
          </a:xfrm>
          <a:prstGeom prst="rect">
            <a:avLst/>
          </a:prstGeom>
        </p:spPr>
      </p:pic>
      <p:pic>
        <p:nvPicPr>
          <p:cNvPr id="8" name="Image 1" descr="preencoded.png"/>
          <p:cNvPicPr>
            <a:picLocks noChangeAspect="1"/>
          </p:cNvPicPr>
          <p:nvPr/>
        </p:nvPicPr>
        <p:blipFill>
          <a:blip r:embed="rId4"/>
          <a:stretch>
            <a:fillRect/>
          </a:stretch>
        </p:blipFill>
        <p:spPr>
          <a:xfrm>
            <a:off x="3396035" y="2811735"/>
            <a:ext cx="111621" cy="111621"/>
          </a:xfrm>
          <a:prstGeom prst="rect">
            <a:avLst/>
          </a:prstGeom>
        </p:spPr>
      </p:pic>
      <p:sp>
        <p:nvSpPr>
          <p:cNvPr id="9" name="Text 5"/>
          <p:cNvSpPr/>
          <p:nvPr/>
        </p:nvSpPr>
        <p:spPr>
          <a:xfrm>
            <a:off x="1511350" y="1291679"/>
            <a:ext cx="1800969" cy="290661"/>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454240"/>
                </a:solidFill>
                <a:latin typeface="Libre Baskerville" pitchFamily="34" charset="0"/>
                <a:ea typeface="Libre Baskerville" pitchFamily="34" charset="-122"/>
                <a:cs typeface="Libre Baskerville" pitchFamily="34" charset="-120"/>
              </a:rPr>
              <a:t>Marie-Claire D. — Résidente Mauricienne, Quatre Bornes</a:t>
            </a:r>
            <a:endParaRPr lang="en-US" sz="900" dirty="0"/>
          </a:p>
        </p:txBody>
      </p:sp>
      <p:sp>
        <p:nvSpPr>
          <p:cNvPr id="10" name="Text 6"/>
          <p:cNvSpPr/>
          <p:nvPr/>
        </p:nvSpPr>
        <p:spPr>
          <a:xfrm>
            <a:off x="1511350" y="1618952"/>
            <a:ext cx="1800969" cy="1109067"/>
          </a:xfrm>
          <a:prstGeom prst="rect">
            <a:avLst/>
          </a:prstGeom>
          <a:noFill/>
          <a:ln/>
        </p:spPr>
        <p:txBody>
          <a:bodyPr wrap="square" lIns="0" tIns="0" rIns="0" bIns="0" rtlCol="0" anchor="t">
            <a:normAutofit/>
          </a:bodyPr>
          <a:lstStyle/>
          <a:p>
            <a:pPr marL="0" indent="0" algn="l">
              <a:lnSpc>
                <a:spcPct val="110000"/>
              </a:lnSpc>
              <a:buNone/>
            </a:pPr>
            <a:r>
              <a:rPr lang="en-US" sz="700" dirty="0">
                <a:solidFill>
                  <a:srgbClr val="454240"/>
                </a:solidFill>
                <a:latin typeface="DM Sans" pitchFamily="34" charset="0"/>
                <a:ea typeface="DM Sans" pitchFamily="34" charset="-122"/>
                <a:cs typeface="DM Sans" pitchFamily="34" charset="-120"/>
              </a:rPr>
              <a:t>« J'avais un terrain en héritage que je souhaitais valoriser en construisant une villa pour ma famille. L'équipe a géré toutes les démarches administratives, coordonné les architectes et les entrepreneurs. Six mois plus tard, nous avons reçu les clés. Un professionnalisme remarquable et une transparence exemplaire tout au long du projet. »</a:t>
            </a:r>
            <a:endParaRPr lang="en-US" sz="700" dirty="0"/>
          </a:p>
        </p:txBody>
      </p:sp>
      <p:sp>
        <p:nvSpPr>
          <p:cNvPr id="11" name="Shape 7"/>
          <p:cNvSpPr/>
          <p:nvPr/>
        </p:nvSpPr>
        <p:spPr>
          <a:xfrm>
            <a:off x="3522390" y="1142628"/>
            <a:ext cx="2099146" cy="1734443"/>
          </a:xfrm>
          <a:prstGeom prst="roundRect">
            <a:avLst>
              <a:gd name="adj" fmla="val 2253"/>
            </a:avLst>
          </a:prstGeom>
          <a:solidFill>
            <a:srgbClr val="FFFDFA"/>
          </a:solidFill>
          <a:ln w="9525">
            <a:solidFill>
              <a:srgbClr val="D5D0C2"/>
            </a:solidFill>
            <a:prstDash val="solid"/>
          </a:ln>
        </p:spPr>
        <p:txBody>
          <a:bodyPr/>
          <a:lstStyle/>
          <a:p>
            <a:endParaRPr lang="fr-FR"/>
          </a:p>
        </p:txBody>
      </p:sp>
      <p:pic>
        <p:nvPicPr>
          <p:cNvPr id="12" name="Image 2" descr="preencoded.png"/>
          <p:cNvPicPr>
            <a:picLocks noChangeAspect="1"/>
          </p:cNvPicPr>
          <p:nvPr/>
        </p:nvPicPr>
        <p:blipFill>
          <a:blip r:embed="rId3"/>
          <a:stretch>
            <a:fillRect/>
          </a:stretch>
        </p:blipFill>
        <p:spPr>
          <a:xfrm>
            <a:off x="3476104" y="1096342"/>
            <a:ext cx="111621" cy="111621"/>
          </a:xfrm>
          <a:prstGeom prst="rect">
            <a:avLst/>
          </a:prstGeom>
        </p:spPr>
      </p:pic>
      <p:pic>
        <p:nvPicPr>
          <p:cNvPr id="13" name="Image 3" descr="preencoded.png"/>
          <p:cNvPicPr>
            <a:picLocks noChangeAspect="1"/>
          </p:cNvPicPr>
          <p:nvPr/>
        </p:nvPicPr>
        <p:blipFill>
          <a:blip r:embed="rId4"/>
          <a:stretch>
            <a:fillRect/>
          </a:stretch>
        </p:blipFill>
        <p:spPr>
          <a:xfrm>
            <a:off x="5556200" y="2811735"/>
            <a:ext cx="111621" cy="111621"/>
          </a:xfrm>
          <a:prstGeom prst="rect">
            <a:avLst/>
          </a:prstGeom>
        </p:spPr>
      </p:pic>
      <p:sp>
        <p:nvSpPr>
          <p:cNvPr id="14" name="Text 8"/>
          <p:cNvSpPr/>
          <p:nvPr/>
        </p:nvSpPr>
        <p:spPr>
          <a:xfrm>
            <a:off x="3671441" y="1291679"/>
            <a:ext cx="1801044" cy="290661"/>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454240"/>
                </a:solidFill>
                <a:latin typeface="Libre Baskerville" pitchFamily="34" charset="0"/>
                <a:ea typeface="Libre Baskerville" pitchFamily="34" charset="-122"/>
                <a:cs typeface="Libre Baskerville" pitchFamily="34" charset="-120"/>
              </a:rPr>
              <a:t>Thomas &amp; Isabelle R. — Investisseurs Français, Paris</a:t>
            </a:r>
            <a:endParaRPr lang="en-US" sz="900" dirty="0"/>
          </a:p>
        </p:txBody>
      </p:sp>
      <p:sp>
        <p:nvSpPr>
          <p:cNvPr id="15" name="Text 9"/>
          <p:cNvSpPr/>
          <p:nvPr/>
        </p:nvSpPr>
        <p:spPr>
          <a:xfrm>
            <a:off x="3671441" y="1618952"/>
            <a:ext cx="1801044" cy="1109067"/>
          </a:xfrm>
          <a:prstGeom prst="rect">
            <a:avLst/>
          </a:prstGeom>
          <a:noFill/>
          <a:ln/>
        </p:spPr>
        <p:txBody>
          <a:bodyPr wrap="square" lIns="0" tIns="0" rIns="0" bIns="0" rtlCol="0" anchor="t">
            <a:normAutofit/>
          </a:bodyPr>
          <a:lstStyle/>
          <a:p>
            <a:pPr marL="0" indent="0" algn="l">
              <a:lnSpc>
                <a:spcPct val="110000"/>
              </a:lnSpc>
              <a:buNone/>
            </a:pPr>
            <a:r>
              <a:rPr lang="en-US" sz="700" dirty="0">
                <a:solidFill>
                  <a:srgbClr val="454240"/>
                </a:solidFill>
                <a:latin typeface="DM Sans" pitchFamily="34" charset="0"/>
                <a:ea typeface="DM Sans" pitchFamily="34" charset="-122"/>
                <a:cs typeface="DM Sans" pitchFamily="34" charset="-120"/>
              </a:rPr>
              <a:t>« Nous cherchions à investir à Maurice depuis la France sans avoir à nous déplacer à chaque étape. Leur équipe a tout géré à distance : identification du bien, montage juridique PDS, suivi de construction. Nous avons acheté une villa clé en main éligible à la résidence permanente. Un service 5 étoiles, une vraie sérénité. »</a:t>
            </a:r>
            <a:endParaRPr lang="en-US" sz="700" dirty="0"/>
          </a:p>
        </p:txBody>
      </p:sp>
      <p:sp>
        <p:nvSpPr>
          <p:cNvPr id="16" name="Shape 10"/>
          <p:cNvSpPr/>
          <p:nvPr/>
        </p:nvSpPr>
        <p:spPr>
          <a:xfrm>
            <a:off x="5682555" y="1142628"/>
            <a:ext cx="2099072" cy="1734443"/>
          </a:xfrm>
          <a:prstGeom prst="roundRect">
            <a:avLst>
              <a:gd name="adj" fmla="val 2253"/>
            </a:avLst>
          </a:prstGeom>
          <a:solidFill>
            <a:srgbClr val="FFFDFA"/>
          </a:solidFill>
          <a:ln w="9525">
            <a:solidFill>
              <a:srgbClr val="D5D0C2"/>
            </a:solidFill>
            <a:prstDash val="solid"/>
          </a:ln>
        </p:spPr>
        <p:txBody>
          <a:bodyPr/>
          <a:lstStyle/>
          <a:p>
            <a:endParaRPr lang="fr-FR"/>
          </a:p>
        </p:txBody>
      </p:sp>
      <p:pic>
        <p:nvPicPr>
          <p:cNvPr id="17" name="Image 4" descr="preencoded.png"/>
          <p:cNvPicPr>
            <a:picLocks noChangeAspect="1"/>
          </p:cNvPicPr>
          <p:nvPr/>
        </p:nvPicPr>
        <p:blipFill>
          <a:blip r:embed="rId3"/>
          <a:stretch>
            <a:fillRect/>
          </a:stretch>
        </p:blipFill>
        <p:spPr>
          <a:xfrm>
            <a:off x="5636270" y="1096342"/>
            <a:ext cx="111621" cy="111621"/>
          </a:xfrm>
          <a:prstGeom prst="rect">
            <a:avLst/>
          </a:prstGeom>
        </p:spPr>
      </p:pic>
      <p:pic>
        <p:nvPicPr>
          <p:cNvPr id="18" name="Image 5" descr="preencoded.png"/>
          <p:cNvPicPr>
            <a:picLocks noChangeAspect="1"/>
          </p:cNvPicPr>
          <p:nvPr/>
        </p:nvPicPr>
        <p:blipFill>
          <a:blip r:embed="rId4"/>
          <a:stretch>
            <a:fillRect/>
          </a:stretch>
        </p:blipFill>
        <p:spPr>
          <a:xfrm>
            <a:off x="7716292" y="2811735"/>
            <a:ext cx="111621" cy="111621"/>
          </a:xfrm>
          <a:prstGeom prst="rect">
            <a:avLst/>
          </a:prstGeom>
        </p:spPr>
      </p:pic>
      <p:sp>
        <p:nvSpPr>
          <p:cNvPr id="19" name="Text 11"/>
          <p:cNvSpPr/>
          <p:nvPr/>
        </p:nvSpPr>
        <p:spPr>
          <a:xfrm>
            <a:off x="5831607" y="1291679"/>
            <a:ext cx="1800969" cy="290661"/>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454240"/>
                </a:solidFill>
                <a:latin typeface="Libre Baskerville" pitchFamily="34" charset="0"/>
                <a:ea typeface="Libre Baskerville" pitchFamily="34" charset="-122"/>
                <a:cs typeface="Libre Baskerville" pitchFamily="34" charset="-120"/>
              </a:rPr>
              <a:t>Raj P. — Entrepreneur Local, Moka</a:t>
            </a:r>
            <a:endParaRPr lang="en-US" sz="900" dirty="0"/>
          </a:p>
        </p:txBody>
      </p:sp>
      <p:sp>
        <p:nvSpPr>
          <p:cNvPr id="20" name="Text 12"/>
          <p:cNvSpPr/>
          <p:nvPr/>
        </p:nvSpPr>
        <p:spPr>
          <a:xfrm>
            <a:off x="5831607" y="1618952"/>
            <a:ext cx="1800969" cy="1109067"/>
          </a:xfrm>
          <a:prstGeom prst="rect">
            <a:avLst/>
          </a:prstGeom>
          <a:noFill/>
          <a:ln/>
        </p:spPr>
        <p:txBody>
          <a:bodyPr wrap="square" lIns="0" tIns="0" rIns="0" bIns="0" rtlCol="0" anchor="t">
            <a:normAutofit/>
          </a:bodyPr>
          <a:lstStyle/>
          <a:p>
            <a:pPr marL="0" indent="0" algn="l">
              <a:lnSpc>
                <a:spcPct val="110000"/>
              </a:lnSpc>
              <a:buNone/>
            </a:pPr>
            <a:r>
              <a:rPr lang="en-US" sz="700" dirty="0">
                <a:solidFill>
                  <a:srgbClr val="454240"/>
                </a:solidFill>
                <a:latin typeface="DM Sans" pitchFamily="34" charset="0"/>
                <a:ea typeface="DM Sans" pitchFamily="34" charset="-122"/>
                <a:cs typeface="DM Sans" pitchFamily="34" charset="-120"/>
              </a:rPr>
              <a:t>« J'ai fait confiance à cette équipe pour un projet de morcellement de 8 lots dans la région de Moka. Leur connaissance du marché local, leur réseau avec les autorités compétentes et leur suivi rigoureux ont permis de livrer le projet dans les délais prévus. Je les recommande sans hésitation pour tout projet immobilier à Maurice. »</a:t>
            </a:r>
            <a:endParaRPr lang="en-US" sz="700" dirty="0"/>
          </a:p>
        </p:txBody>
      </p:sp>
      <p:sp>
        <p:nvSpPr>
          <p:cNvPr id="21" name="Text 13"/>
          <p:cNvSpPr/>
          <p:nvPr/>
        </p:nvSpPr>
        <p:spPr>
          <a:xfrm>
            <a:off x="1605930" y="3550369"/>
            <a:ext cx="1372865" cy="232618"/>
          </a:xfrm>
          <a:prstGeom prst="rect">
            <a:avLst/>
          </a:prstGeom>
          <a:noFill/>
          <a:ln/>
        </p:spPr>
        <p:txBody>
          <a:bodyPr wrap="none" lIns="0" tIns="0" rIns="0" bIns="0" rtlCol="0" anchor="t"/>
          <a:lstStyle/>
          <a:p>
            <a:pPr marL="0" indent="0" algn="ctr">
              <a:lnSpc>
                <a:spcPct val="83000"/>
              </a:lnSpc>
              <a:buNone/>
            </a:pPr>
            <a:r>
              <a:rPr lang="en-US" sz="1800" dirty="0">
                <a:solidFill>
                  <a:srgbClr val="454240"/>
                </a:solidFill>
                <a:latin typeface="Libre Baskerville" pitchFamily="34" charset="0"/>
                <a:ea typeface="Libre Baskerville" pitchFamily="34" charset="-122"/>
                <a:cs typeface="Libre Baskerville" pitchFamily="34" charset="-120"/>
              </a:rPr>
              <a:t>97%</a:t>
            </a:r>
            <a:endParaRPr lang="en-US" sz="1800" dirty="0"/>
          </a:p>
        </p:txBody>
      </p:sp>
      <p:pic>
        <p:nvPicPr>
          <p:cNvPr id="22" name="Image 6" descr="preencoded.png"/>
          <p:cNvPicPr>
            <a:picLocks noChangeAspect="1"/>
          </p:cNvPicPr>
          <p:nvPr/>
        </p:nvPicPr>
        <p:blipFill>
          <a:blip r:embed="rId5"/>
          <a:stretch>
            <a:fillRect/>
          </a:stretch>
        </p:blipFill>
        <p:spPr>
          <a:xfrm>
            <a:off x="1708993" y="2968972"/>
            <a:ext cx="1395487" cy="1395487"/>
          </a:xfrm>
          <a:prstGeom prst="rect">
            <a:avLst/>
          </a:prstGeom>
        </p:spPr>
      </p:pic>
      <p:sp>
        <p:nvSpPr>
          <p:cNvPr id="23" name="Text 14"/>
          <p:cNvSpPr/>
          <p:nvPr/>
        </p:nvSpPr>
        <p:spPr>
          <a:xfrm>
            <a:off x="1596703" y="4448696"/>
            <a:ext cx="1391469" cy="145331"/>
          </a:xfrm>
          <a:prstGeom prst="rect">
            <a:avLst/>
          </a:prstGeom>
          <a:noFill/>
          <a:ln/>
        </p:spPr>
        <p:txBody>
          <a:bodyPr wrap="none" lIns="0" tIns="0" rIns="0" bIns="0" rtlCol="0" anchor="t"/>
          <a:lstStyle/>
          <a:p>
            <a:pPr marL="0" indent="0" algn="ctr">
              <a:lnSpc>
                <a:spcPct val="104000"/>
              </a:lnSpc>
              <a:buNone/>
            </a:pPr>
            <a:r>
              <a:rPr lang="en-US" sz="900" dirty="0">
                <a:solidFill>
                  <a:srgbClr val="454240"/>
                </a:solidFill>
                <a:latin typeface="Libre Baskerville" pitchFamily="34" charset="0"/>
                <a:ea typeface="Libre Baskerville" pitchFamily="34" charset="-122"/>
                <a:cs typeface="Libre Baskerville" pitchFamily="34" charset="-120"/>
              </a:rPr>
              <a:t>Clients satisfaits</a:t>
            </a:r>
            <a:endParaRPr lang="en-US" sz="900" dirty="0"/>
          </a:p>
        </p:txBody>
      </p:sp>
      <p:sp>
        <p:nvSpPr>
          <p:cNvPr id="24" name="Text 15"/>
          <p:cNvSpPr/>
          <p:nvPr/>
        </p:nvSpPr>
        <p:spPr>
          <a:xfrm>
            <a:off x="1362298" y="4630638"/>
            <a:ext cx="2088952" cy="246459"/>
          </a:xfrm>
          <a:prstGeom prst="rect">
            <a:avLst/>
          </a:prstGeom>
          <a:noFill/>
          <a:ln/>
        </p:spPr>
        <p:txBody>
          <a:bodyPr wrap="square" lIns="0" tIns="0" rIns="0" bIns="0" rtlCol="0" anchor="t">
            <a:normAutofit/>
          </a:bodyPr>
          <a:lstStyle/>
          <a:p>
            <a:pPr marL="0" indent="0" algn="ctr">
              <a:lnSpc>
                <a:spcPct val="110000"/>
              </a:lnSpc>
              <a:buNone/>
            </a:pPr>
            <a:r>
              <a:rPr lang="en-US" sz="700" dirty="0">
                <a:solidFill>
                  <a:srgbClr val="454240"/>
                </a:solidFill>
                <a:latin typeface="DM Sans" pitchFamily="34" charset="0"/>
                <a:ea typeface="DM Sans" pitchFamily="34" charset="-122"/>
                <a:cs typeface="DM Sans" pitchFamily="34" charset="-120"/>
              </a:rPr>
              <a:t>Taux de satisfaction mesuré sur nos 50 derniers projets livrés</a:t>
            </a:r>
            <a:endParaRPr lang="en-US" sz="700" dirty="0"/>
          </a:p>
        </p:txBody>
      </p:sp>
      <p:sp>
        <p:nvSpPr>
          <p:cNvPr id="25" name="Text 16"/>
          <p:cNvSpPr/>
          <p:nvPr/>
        </p:nvSpPr>
        <p:spPr>
          <a:xfrm>
            <a:off x="3771156" y="3550369"/>
            <a:ext cx="1372865" cy="232618"/>
          </a:xfrm>
          <a:prstGeom prst="rect">
            <a:avLst/>
          </a:prstGeom>
          <a:noFill/>
          <a:ln/>
        </p:spPr>
        <p:txBody>
          <a:bodyPr wrap="none" lIns="0" tIns="0" rIns="0" bIns="0" rtlCol="0" anchor="t"/>
          <a:lstStyle/>
          <a:p>
            <a:pPr marL="0" indent="0" algn="ctr">
              <a:lnSpc>
                <a:spcPct val="83000"/>
              </a:lnSpc>
              <a:buNone/>
            </a:pPr>
            <a:r>
              <a:rPr lang="en-US" sz="1800" dirty="0">
                <a:solidFill>
                  <a:srgbClr val="454240"/>
                </a:solidFill>
                <a:latin typeface="Libre Baskerville" pitchFamily="34" charset="0"/>
                <a:ea typeface="Libre Baskerville" pitchFamily="34" charset="-122"/>
                <a:cs typeface="Libre Baskerville" pitchFamily="34" charset="-120"/>
              </a:rPr>
              <a:t>92%</a:t>
            </a:r>
            <a:endParaRPr lang="en-US" sz="1800" dirty="0"/>
          </a:p>
        </p:txBody>
      </p:sp>
      <p:pic>
        <p:nvPicPr>
          <p:cNvPr id="26" name="Image 7" descr="preencoded.png"/>
          <p:cNvPicPr>
            <a:picLocks noChangeAspect="1"/>
          </p:cNvPicPr>
          <p:nvPr/>
        </p:nvPicPr>
        <p:blipFill>
          <a:blip r:embed="rId6"/>
          <a:stretch>
            <a:fillRect/>
          </a:stretch>
        </p:blipFill>
        <p:spPr>
          <a:xfrm>
            <a:off x="3874219" y="2968972"/>
            <a:ext cx="1395487" cy="1395487"/>
          </a:xfrm>
          <a:prstGeom prst="rect">
            <a:avLst/>
          </a:prstGeom>
        </p:spPr>
      </p:pic>
      <p:sp>
        <p:nvSpPr>
          <p:cNvPr id="27" name="Text 17"/>
          <p:cNvSpPr/>
          <p:nvPr/>
        </p:nvSpPr>
        <p:spPr>
          <a:xfrm>
            <a:off x="3702769" y="4448696"/>
            <a:ext cx="1509861" cy="145331"/>
          </a:xfrm>
          <a:prstGeom prst="rect">
            <a:avLst/>
          </a:prstGeom>
          <a:noFill/>
          <a:ln/>
        </p:spPr>
        <p:txBody>
          <a:bodyPr wrap="none" lIns="0" tIns="0" rIns="0" bIns="0" rtlCol="0" anchor="t"/>
          <a:lstStyle/>
          <a:p>
            <a:pPr marL="0" indent="0" algn="ctr">
              <a:lnSpc>
                <a:spcPct val="104000"/>
              </a:lnSpc>
              <a:buNone/>
            </a:pPr>
            <a:r>
              <a:rPr lang="en-US" sz="900" dirty="0">
                <a:solidFill>
                  <a:srgbClr val="454240"/>
                </a:solidFill>
                <a:latin typeface="Libre Baskerville" pitchFamily="34" charset="0"/>
                <a:ea typeface="Libre Baskerville" pitchFamily="34" charset="-122"/>
                <a:cs typeface="Libre Baskerville" pitchFamily="34" charset="-120"/>
              </a:rPr>
              <a:t>Projets dans les délais</a:t>
            </a:r>
            <a:endParaRPr lang="en-US" sz="900" dirty="0"/>
          </a:p>
        </p:txBody>
      </p:sp>
      <p:sp>
        <p:nvSpPr>
          <p:cNvPr id="28" name="Text 18"/>
          <p:cNvSpPr/>
          <p:nvPr/>
        </p:nvSpPr>
        <p:spPr>
          <a:xfrm>
            <a:off x="3527524" y="4630638"/>
            <a:ext cx="2088952" cy="246459"/>
          </a:xfrm>
          <a:prstGeom prst="rect">
            <a:avLst/>
          </a:prstGeom>
          <a:noFill/>
          <a:ln/>
        </p:spPr>
        <p:txBody>
          <a:bodyPr wrap="square" lIns="0" tIns="0" rIns="0" bIns="0" rtlCol="0" anchor="t">
            <a:normAutofit/>
          </a:bodyPr>
          <a:lstStyle/>
          <a:p>
            <a:pPr marL="0" indent="0" algn="ctr">
              <a:lnSpc>
                <a:spcPct val="110000"/>
              </a:lnSpc>
              <a:buNone/>
            </a:pPr>
            <a:r>
              <a:rPr lang="en-US" sz="700" dirty="0">
                <a:solidFill>
                  <a:srgbClr val="454240"/>
                </a:solidFill>
                <a:latin typeface="DM Sans" pitchFamily="34" charset="0"/>
                <a:ea typeface="DM Sans" pitchFamily="34" charset="-122"/>
                <a:cs typeface="DM Sans" pitchFamily="34" charset="-120"/>
              </a:rPr>
              <a:t>Engagement de livraison respecté sur la quasi-totalité de nos chantiers</a:t>
            </a:r>
            <a:endParaRPr lang="en-US" sz="700" dirty="0"/>
          </a:p>
        </p:txBody>
      </p:sp>
      <p:sp>
        <p:nvSpPr>
          <p:cNvPr id="29" name="Text 19"/>
          <p:cNvSpPr/>
          <p:nvPr/>
        </p:nvSpPr>
        <p:spPr>
          <a:xfrm>
            <a:off x="5936382" y="3550369"/>
            <a:ext cx="1372865" cy="232618"/>
          </a:xfrm>
          <a:prstGeom prst="rect">
            <a:avLst/>
          </a:prstGeom>
          <a:noFill/>
          <a:ln/>
        </p:spPr>
        <p:txBody>
          <a:bodyPr wrap="none" lIns="0" tIns="0" rIns="0" bIns="0" rtlCol="0" anchor="t"/>
          <a:lstStyle/>
          <a:p>
            <a:pPr marL="0" indent="0" algn="ctr">
              <a:lnSpc>
                <a:spcPct val="83000"/>
              </a:lnSpc>
              <a:buNone/>
            </a:pPr>
            <a:r>
              <a:rPr lang="en-US" sz="1800" dirty="0">
                <a:solidFill>
                  <a:srgbClr val="454240"/>
                </a:solidFill>
                <a:latin typeface="Libre Baskerville" pitchFamily="34" charset="0"/>
                <a:ea typeface="Libre Baskerville" pitchFamily="34" charset="-122"/>
                <a:cs typeface="Libre Baskerville" pitchFamily="34" charset="-120"/>
              </a:rPr>
              <a:t>85%</a:t>
            </a:r>
            <a:endParaRPr lang="en-US" sz="1800" dirty="0"/>
          </a:p>
        </p:txBody>
      </p:sp>
      <p:pic>
        <p:nvPicPr>
          <p:cNvPr id="30" name="Image 8" descr="preencoded.png"/>
          <p:cNvPicPr>
            <a:picLocks noChangeAspect="1"/>
          </p:cNvPicPr>
          <p:nvPr/>
        </p:nvPicPr>
        <p:blipFill>
          <a:blip r:embed="rId7"/>
          <a:stretch>
            <a:fillRect/>
          </a:stretch>
        </p:blipFill>
        <p:spPr>
          <a:xfrm>
            <a:off x="6039445" y="2968972"/>
            <a:ext cx="1395487" cy="1395487"/>
          </a:xfrm>
          <a:prstGeom prst="rect">
            <a:avLst/>
          </a:prstGeom>
        </p:spPr>
      </p:pic>
      <p:sp>
        <p:nvSpPr>
          <p:cNvPr id="31" name="Text 20"/>
          <p:cNvSpPr/>
          <p:nvPr/>
        </p:nvSpPr>
        <p:spPr>
          <a:xfrm>
            <a:off x="5652567" y="4448696"/>
            <a:ext cx="1940644" cy="145331"/>
          </a:xfrm>
          <a:prstGeom prst="rect">
            <a:avLst/>
          </a:prstGeom>
          <a:noFill/>
          <a:ln/>
        </p:spPr>
        <p:txBody>
          <a:bodyPr wrap="none" lIns="0" tIns="0" rIns="0" bIns="0" rtlCol="0" anchor="t"/>
          <a:lstStyle/>
          <a:p>
            <a:pPr marL="0" indent="0" algn="ctr">
              <a:lnSpc>
                <a:spcPct val="104000"/>
              </a:lnSpc>
              <a:buNone/>
            </a:pPr>
            <a:r>
              <a:rPr lang="en-US" sz="900" dirty="0">
                <a:solidFill>
                  <a:srgbClr val="454240"/>
                </a:solidFill>
                <a:latin typeface="Libre Baskerville" pitchFamily="34" charset="0"/>
                <a:ea typeface="Libre Baskerville" pitchFamily="34" charset="-122"/>
                <a:cs typeface="Libre Baskerville" pitchFamily="34" charset="-120"/>
              </a:rPr>
              <a:t>Clients par recommandation</a:t>
            </a:r>
            <a:endParaRPr lang="en-US" sz="900" dirty="0"/>
          </a:p>
        </p:txBody>
      </p:sp>
      <p:sp>
        <p:nvSpPr>
          <p:cNvPr id="32" name="Text 21"/>
          <p:cNvSpPr/>
          <p:nvPr/>
        </p:nvSpPr>
        <p:spPr>
          <a:xfrm>
            <a:off x="5692750" y="4630638"/>
            <a:ext cx="2088952" cy="246459"/>
          </a:xfrm>
          <a:prstGeom prst="rect">
            <a:avLst/>
          </a:prstGeom>
          <a:noFill/>
          <a:ln/>
        </p:spPr>
        <p:txBody>
          <a:bodyPr wrap="square" lIns="0" tIns="0" rIns="0" bIns="0" rtlCol="0" anchor="t">
            <a:normAutofit/>
          </a:bodyPr>
          <a:lstStyle/>
          <a:p>
            <a:pPr marL="0" indent="0" algn="ctr">
              <a:lnSpc>
                <a:spcPct val="110000"/>
              </a:lnSpc>
              <a:buNone/>
            </a:pPr>
            <a:r>
              <a:rPr lang="en-US" sz="700" dirty="0">
                <a:solidFill>
                  <a:srgbClr val="454240"/>
                </a:solidFill>
                <a:latin typeface="DM Sans" pitchFamily="34" charset="0"/>
                <a:ea typeface="DM Sans" pitchFamily="34" charset="-122"/>
                <a:cs typeface="DM Sans" pitchFamily="34" charset="-120"/>
              </a:rPr>
              <a:t>La majorité de nos nouveaux clients nous sont recommandés par des clients existants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87921" y="426318"/>
            <a:ext cx="3688928" cy="4290864"/>
          </a:xfrm>
          <a:prstGeom prst="roundRect">
            <a:avLst>
              <a:gd name="adj" fmla="val 2724"/>
            </a:avLst>
          </a:prstGeom>
          <a:solidFill>
            <a:srgbClr val="204C8E"/>
          </a:solidFill>
          <a:ln/>
        </p:spPr>
        <p:txBody>
          <a:bodyPr/>
          <a:lstStyle/>
          <a:p>
            <a:endParaRPr lang="fr-FR"/>
          </a:p>
        </p:txBody>
      </p:sp>
      <p:sp>
        <p:nvSpPr>
          <p:cNvPr id="3" name="Text 1"/>
          <p:cNvSpPr/>
          <p:nvPr/>
        </p:nvSpPr>
        <p:spPr>
          <a:xfrm>
            <a:off x="527447" y="563687"/>
            <a:ext cx="3409876" cy="697706"/>
          </a:xfrm>
          <a:prstGeom prst="rect">
            <a:avLst/>
          </a:prstGeom>
          <a:noFill/>
          <a:ln/>
        </p:spPr>
        <p:txBody>
          <a:bodyPr wrap="square" lIns="0" tIns="0" rIns="0" bIns="0" rtlCol="0" anchor="t">
            <a:normAutofit/>
          </a:bodyPr>
          <a:lstStyle/>
          <a:p>
            <a:pPr marL="0" indent="0" algn="l">
              <a:lnSpc>
                <a:spcPct val="104000"/>
              </a:lnSpc>
              <a:buNone/>
            </a:pPr>
            <a:r>
              <a:rPr lang="en-US" sz="2150" dirty="0">
                <a:solidFill>
                  <a:srgbClr val="FFFFFF"/>
                </a:solidFill>
                <a:latin typeface="Libre Baskerville" pitchFamily="34" charset="0"/>
                <a:ea typeface="Libre Baskerville" pitchFamily="34" charset="-122"/>
                <a:cs typeface="Libre Baskerville" pitchFamily="34" charset="-120"/>
              </a:rPr>
              <a:t>Discutons de votre projet dès aujourd'hui</a:t>
            </a:r>
            <a:endParaRPr lang="en-US" sz="2150" dirty="0"/>
          </a:p>
        </p:txBody>
      </p:sp>
      <p:sp>
        <p:nvSpPr>
          <p:cNvPr id="4" name="Text 2"/>
          <p:cNvSpPr/>
          <p:nvPr/>
        </p:nvSpPr>
        <p:spPr>
          <a:xfrm>
            <a:off x="527447" y="1398761"/>
            <a:ext cx="3409876" cy="2116708"/>
          </a:xfrm>
          <a:prstGeom prst="rect">
            <a:avLst/>
          </a:prstGeom>
          <a:noFill/>
          <a:ln/>
        </p:spPr>
        <p:txBody>
          <a:bodyPr wrap="square" lIns="0" tIns="0" rIns="0" bIns="0" rtlCol="0" anchor="t">
            <a:normAutofit/>
          </a:bodyPr>
          <a:lstStyle/>
          <a:p>
            <a:pPr marL="0" indent="0" algn="l">
              <a:lnSpc>
                <a:spcPct val="132000"/>
              </a:lnSpc>
              <a:spcAft>
                <a:spcPts val="950"/>
              </a:spcAft>
              <a:buNone/>
            </a:pPr>
            <a:r>
              <a:rPr lang="en-US" sz="1050" dirty="0">
                <a:solidFill>
                  <a:srgbClr val="FFFFFF"/>
                </a:solidFill>
                <a:latin typeface="DM Sans" pitchFamily="34" charset="0"/>
                <a:ea typeface="DM Sans" pitchFamily="34" charset="-122"/>
                <a:cs typeface="DM Sans" pitchFamily="34" charset="-120"/>
              </a:rPr>
              <a:t>Que vous ayez une idée précise ou que vous soyez encore en phase de réflexion, notre équipe est disponible pour vous écouter, répondre à vos questions et vous orienter vers les meilleures opportunités du marché mauricien.</a:t>
            </a:r>
            <a:endParaRPr lang="en-US" sz="1050" dirty="0"/>
          </a:p>
          <a:p>
            <a:pPr marL="0" indent="0" algn="l">
              <a:lnSpc>
                <a:spcPct val="132000"/>
              </a:lnSpc>
              <a:buNone/>
            </a:pPr>
            <a:r>
              <a:rPr lang="en-US" sz="1050" dirty="0">
                <a:solidFill>
                  <a:srgbClr val="FFFFFF"/>
                </a:solidFill>
                <a:latin typeface="DM Sans" pitchFamily="34" charset="0"/>
                <a:ea typeface="DM Sans" pitchFamily="34" charset="-122"/>
                <a:cs typeface="DM Sans" pitchFamily="34" charset="-120"/>
              </a:rPr>
              <a:t>Un premier échange est toujours gratuit et sans engagement. Nous étudions votre situation, vos objectifs et votre budget pour vous proposer les solutions les plus adaptées.</a:t>
            </a:r>
            <a:endParaRPr lang="en-US" sz="1050" dirty="0"/>
          </a:p>
        </p:txBody>
      </p:sp>
      <p:sp>
        <p:nvSpPr>
          <p:cNvPr id="5" name="Text 3"/>
          <p:cNvSpPr/>
          <p:nvPr/>
        </p:nvSpPr>
        <p:spPr>
          <a:xfrm>
            <a:off x="527447" y="3639071"/>
            <a:ext cx="3409876" cy="1030039"/>
          </a:xfrm>
          <a:prstGeom prst="rect">
            <a:avLst/>
          </a:prstGeom>
          <a:noFill/>
          <a:ln/>
        </p:spPr>
        <p:txBody>
          <a:bodyPr wrap="square" lIns="0" tIns="0" rIns="0" bIns="0" rtlCol="0" anchor="t">
            <a:normAutofit/>
          </a:bodyPr>
          <a:lstStyle/>
          <a:p>
            <a:pPr marL="342900" indent="-342900" algn="l">
              <a:lnSpc>
                <a:spcPct val="132000"/>
              </a:lnSpc>
              <a:buSzPct val="100000"/>
              <a:buChar char="•"/>
            </a:pPr>
            <a:r>
              <a:rPr lang="en-US" sz="1050" dirty="0">
                <a:solidFill>
                  <a:srgbClr val="FFFFFF"/>
                </a:solidFill>
                <a:latin typeface="DM Sans" pitchFamily="34" charset="0"/>
                <a:ea typeface="DM Sans" pitchFamily="34" charset="-122"/>
                <a:cs typeface="DM Sans" pitchFamily="34" charset="-120"/>
              </a:rPr>
              <a:t>Réponse sous 24h ouvrées</a:t>
            </a:r>
            <a:endParaRPr lang="en-US" sz="1050" dirty="0"/>
          </a:p>
          <a:p>
            <a:pPr marL="342900" indent="-342900" algn="l">
              <a:lnSpc>
                <a:spcPct val="132000"/>
              </a:lnSpc>
              <a:buSzPct val="100000"/>
              <a:buChar char="•"/>
            </a:pPr>
            <a:r>
              <a:rPr lang="en-US" sz="1050" dirty="0">
                <a:solidFill>
                  <a:srgbClr val="FFFFFF"/>
                </a:solidFill>
                <a:latin typeface="DM Sans" pitchFamily="34" charset="0"/>
                <a:ea typeface="DM Sans" pitchFamily="34" charset="-122"/>
                <a:cs typeface="DM Sans" pitchFamily="34" charset="-120"/>
              </a:rPr>
              <a:t>Consultation initiale gratuite</a:t>
            </a:r>
            <a:endParaRPr lang="en-US" sz="1050" dirty="0"/>
          </a:p>
          <a:p>
            <a:pPr marL="342900" indent="-342900" algn="l">
              <a:lnSpc>
                <a:spcPct val="132000"/>
              </a:lnSpc>
              <a:buSzPct val="100000"/>
              <a:buChar char="•"/>
            </a:pPr>
            <a:r>
              <a:rPr lang="en-US" sz="1050" dirty="0">
                <a:solidFill>
                  <a:srgbClr val="FFFFFF"/>
                </a:solidFill>
                <a:latin typeface="DM Sans" pitchFamily="34" charset="0"/>
                <a:ea typeface="DM Sans" pitchFamily="34" charset="-122"/>
                <a:cs typeface="DM Sans" pitchFamily="34" charset="-120"/>
              </a:rPr>
              <a:t>Disponibles en français, anglais et créole</a:t>
            </a:r>
            <a:endParaRPr lang="en-US" sz="1050" dirty="0"/>
          </a:p>
          <a:p>
            <a:pPr marL="342900" indent="-342900" algn="l">
              <a:lnSpc>
                <a:spcPct val="132000"/>
              </a:lnSpc>
              <a:buSzPct val="100000"/>
              <a:buChar char="•"/>
            </a:pPr>
            <a:r>
              <a:rPr lang="en-US" sz="1050" dirty="0">
                <a:solidFill>
                  <a:srgbClr val="FFFFFF"/>
                </a:solidFill>
                <a:latin typeface="DM Sans" pitchFamily="34" charset="0"/>
                <a:ea typeface="DM Sans" pitchFamily="34" charset="-122"/>
                <a:cs typeface="DM Sans" pitchFamily="34" charset="-120"/>
              </a:rPr>
              <a:t>Rendez-vous en présentiel ou visioconférence</a:t>
            </a:r>
            <a:endParaRPr lang="en-US" sz="1050" dirty="0"/>
          </a:p>
        </p:txBody>
      </p:sp>
      <p:sp>
        <p:nvSpPr>
          <p:cNvPr id="6" name="Shape 4"/>
          <p:cNvSpPr/>
          <p:nvPr/>
        </p:nvSpPr>
        <p:spPr>
          <a:xfrm>
            <a:off x="4221063" y="426318"/>
            <a:ext cx="4539704" cy="4290864"/>
          </a:xfrm>
          <a:prstGeom prst="roundRect">
            <a:avLst>
              <a:gd name="adj" fmla="val 2342"/>
            </a:avLst>
          </a:prstGeom>
          <a:solidFill>
            <a:srgbClr val="204C8E"/>
          </a:solidFill>
          <a:ln/>
        </p:spPr>
        <p:txBody>
          <a:bodyPr/>
          <a:lstStyle/>
          <a:p>
            <a:endParaRPr lang="fr-FR"/>
          </a:p>
        </p:txBody>
      </p:sp>
      <p:sp>
        <p:nvSpPr>
          <p:cNvPr id="7" name="Text 5"/>
          <p:cNvSpPr/>
          <p:nvPr/>
        </p:nvSpPr>
        <p:spPr>
          <a:xfrm>
            <a:off x="4360590" y="563687"/>
            <a:ext cx="2877964" cy="218033"/>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Libre Baskerville" pitchFamily="34" charset="0"/>
                <a:ea typeface="Libre Baskerville" pitchFamily="34" charset="-122"/>
                <a:cs typeface="Libre Baskerville" pitchFamily="34" charset="-120"/>
              </a:rPr>
              <a:t>Parlez-nous de votre projet</a:t>
            </a:r>
            <a:endParaRPr lang="en-US" sz="1350" dirty="0"/>
          </a:p>
        </p:txBody>
      </p:sp>
      <p:sp>
        <p:nvSpPr>
          <p:cNvPr id="8" name="Text 6"/>
          <p:cNvSpPr/>
          <p:nvPr/>
        </p:nvSpPr>
        <p:spPr>
          <a:xfrm>
            <a:off x="4360590" y="919088"/>
            <a:ext cx="4260652" cy="2363912"/>
          </a:xfrm>
          <a:prstGeom prst="rect">
            <a:avLst/>
          </a:prstGeom>
          <a:noFill/>
          <a:ln/>
        </p:spPr>
        <p:txBody>
          <a:bodyPr wrap="square" lIns="0" tIns="0" rIns="0" bIns="0" rtlCol="0" anchor="t">
            <a:normAutofit/>
          </a:bodyPr>
          <a:lstStyle/>
          <a:p>
            <a:pPr marL="0" indent="0" algn="l">
              <a:lnSpc>
                <a:spcPct val="132000"/>
              </a:lnSpc>
              <a:buNone/>
            </a:pPr>
            <a:r>
              <a:rPr lang="en-US" sz="1050" b="1" dirty="0">
                <a:solidFill>
                  <a:srgbClr val="FFFFFF"/>
                </a:solidFill>
                <a:latin typeface="DM Sans" pitchFamily="34" charset="0"/>
                <a:ea typeface="DM Sans" pitchFamily="34" charset="-122"/>
                <a:cs typeface="DM Sans" pitchFamily="34" charset="-120"/>
              </a:rPr>
              <a:t>Nom complet</a:t>
            </a:r>
            <a:endParaRPr lang="en-US" sz="1050" dirty="0"/>
          </a:p>
          <a:p>
            <a:pPr marL="0" indent="0" algn="l">
              <a:lnSpc>
                <a:spcPct val="132000"/>
              </a:lnSpc>
              <a:spcAft>
                <a:spcPts val="950"/>
              </a:spcAft>
              <a:buNone/>
            </a:pPr>
            <a:r>
              <a:rPr lang="en-US" sz="1050" dirty="0">
                <a:solidFill>
                  <a:srgbClr val="FFFFFF"/>
                </a:solidFill>
                <a:latin typeface="DM Sans" pitchFamily="34" charset="0"/>
                <a:ea typeface="DM Sans" pitchFamily="34" charset="-122"/>
                <a:cs typeface="DM Sans" pitchFamily="34" charset="-120"/>
              </a:rPr>
              <a:t>Votre nom et prénom</a:t>
            </a:r>
            <a:endParaRPr lang="en-US" sz="1050" dirty="0"/>
          </a:p>
          <a:p>
            <a:pPr marL="0" indent="0" algn="l">
              <a:lnSpc>
                <a:spcPct val="132000"/>
              </a:lnSpc>
              <a:buNone/>
            </a:pPr>
            <a:r>
              <a:rPr lang="en-US" sz="1050" b="1" dirty="0">
                <a:solidFill>
                  <a:srgbClr val="FFFFFF"/>
                </a:solidFill>
                <a:latin typeface="DM Sans" pitchFamily="34" charset="0"/>
                <a:ea typeface="DM Sans" pitchFamily="34" charset="-122"/>
                <a:cs typeface="DM Sans" pitchFamily="34" charset="-120"/>
              </a:rPr>
              <a:t>Type de projet</a:t>
            </a:r>
            <a:endParaRPr lang="en-US" sz="1050" dirty="0"/>
          </a:p>
          <a:p>
            <a:pPr marL="0" indent="0" algn="l">
              <a:lnSpc>
                <a:spcPct val="132000"/>
              </a:lnSpc>
              <a:spcAft>
                <a:spcPts val="950"/>
              </a:spcAft>
              <a:buNone/>
            </a:pPr>
            <a:r>
              <a:rPr lang="en-US" sz="1050" dirty="0">
                <a:solidFill>
                  <a:srgbClr val="FFFFFF"/>
                </a:solidFill>
                <a:latin typeface="DM Sans" pitchFamily="34" charset="0"/>
                <a:ea typeface="DM Sans" pitchFamily="34" charset="-122"/>
                <a:cs typeface="DM Sans" pitchFamily="34" charset="-120"/>
              </a:rPr>
              <a:t>Achat de terrain · Construction · Morcellement · Investissement expatrié</a:t>
            </a:r>
            <a:endParaRPr lang="en-US" sz="1050" dirty="0"/>
          </a:p>
          <a:p>
            <a:pPr marL="0" indent="0" algn="l">
              <a:lnSpc>
                <a:spcPct val="132000"/>
              </a:lnSpc>
              <a:buNone/>
            </a:pPr>
            <a:r>
              <a:rPr lang="en-US" sz="1050" b="1" dirty="0">
                <a:solidFill>
                  <a:srgbClr val="FFFFFF"/>
                </a:solidFill>
                <a:latin typeface="DM Sans" pitchFamily="34" charset="0"/>
                <a:ea typeface="DM Sans" pitchFamily="34" charset="-122"/>
                <a:cs typeface="DM Sans" pitchFamily="34" charset="-120"/>
              </a:rPr>
              <a:t>Budget approximatif</a:t>
            </a:r>
            <a:endParaRPr lang="en-US" sz="1050" dirty="0"/>
          </a:p>
          <a:p>
            <a:pPr marL="0" indent="0" algn="l">
              <a:lnSpc>
                <a:spcPct val="132000"/>
              </a:lnSpc>
              <a:spcAft>
                <a:spcPts val="950"/>
              </a:spcAft>
              <a:buNone/>
            </a:pPr>
            <a:r>
              <a:rPr lang="en-US" sz="1050" dirty="0">
                <a:solidFill>
                  <a:srgbClr val="FFFFFF"/>
                </a:solidFill>
                <a:latin typeface="DM Sans" pitchFamily="34" charset="0"/>
                <a:ea typeface="DM Sans" pitchFamily="34" charset="-122"/>
                <a:cs typeface="DM Sans" pitchFamily="34" charset="-120"/>
              </a:rPr>
              <a:t>Moins de 5M MUR · 5–15M MUR · 15–30M MUR · Plus de 30M MUR</a:t>
            </a:r>
            <a:endParaRPr lang="en-US" sz="1050" dirty="0"/>
          </a:p>
          <a:p>
            <a:pPr marL="0" indent="0" algn="l">
              <a:lnSpc>
                <a:spcPct val="132000"/>
              </a:lnSpc>
              <a:buNone/>
            </a:pPr>
            <a:r>
              <a:rPr lang="en-US" sz="1050" b="1" dirty="0">
                <a:solidFill>
                  <a:srgbClr val="FFFFFF"/>
                </a:solidFill>
                <a:latin typeface="DM Sans" pitchFamily="34" charset="0"/>
                <a:ea typeface="DM Sans" pitchFamily="34" charset="-122"/>
                <a:cs typeface="DM Sans" pitchFamily="34" charset="-120"/>
              </a:rPr>
              <a:t>Vos coordonnées</a:t>
            </a:r>
            <a:endParaRPr lang="en-US" sz="1050" dirty="0"/>
          </a:p>
          <a:p>
            <a:pPr marL="0" indent="0" algn="l">
              <a:lnSpc>
                <a:spcPct val="132000"/>
              </a:lnSpc>
              <a:buNone/>
            </a:pPr>
            <a:r>
              <a:rPr lang="en-US" sz="1050" dirty="0">
                <a:solidFill>
                  <a:srgbClr val="FFFFFF"/>
                </a:solidFill>
                <a:latin typeface="DM Sans" pitchFamily="34" charset="0"/>
                <a:ea typeface="DM Sans" pitchFamily="34" charset="-122"/>
                <a:cs typeface="DM Sans" pitchFamily="34" charset="-120"/>
              </a:rPr>
              <a:t>Email et numéro de téléphone (WhatsApp accepté)</a:t>
            </a:r>
            <a:endParaRPr lang="en-US" sz="1050" dirty="0"/>
          </a:p>
        </p:txBody>
      </p:sp>
      <p:pic>
        <p:nvPicPr>
          <p:cNvPr id="9" name="Image 0" descr="preencoded.png">
            <a:hlinkClick r:id="" action="ppaction://noaction"/>
          </p:cNvPr>
          <p:cNvPicPr>
            <a:picLocks noChangeAspect="1"/>
          </p:cNvPicPr>
          <p:nvPr/>
        </p:nvPicPr>
        <p:blipFill>
          <a:blip r:embed="rId3"/>
          <a:stretch>
            <a:fillRect/>
          </a:stretch>
        </p:blipFill>
        <p:spPr>
          <a:xfrm>
            <a:off x="4360590" y="3437483"/>
            <a:ext cx="1725960" cy="383753"/>
          </a:xfrm>
          <a:prstGeom prst="rect">
            <a:avLst/>
          </a:prstGeom>
        </p:spPr>
      </p:pic>
      <p:pic>
        <p:nvPicPr>
          <p:cNvPr id="10" name="Image 1" descr="preencoded.png">
            <a:hlinkClick r:id="" action="ppaction://noaction"/>
          </p:cNvPr>
          <p:cNvPicPr>
            <a:picLocks noChangeAspect="1"/>
          </p:cNvPicPr>
          <p:nvPr/>
        </p:nvPicPr>
        <p:blipFill>
          <a:blip r:embed="rId4"/>
          <a:stretch>
            <a:fillRect/>
          </a:stretch>
        </p:blipFill>
        <p:spPr>
          <a:xfrm>
            <a:off x="6156275" y="3437483"/>
            <a:ext cx="2315766" cy="3837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591568" y="306437"/>
            <a:ext cx="772418" cy="150316"/>
          </a:xfrm>
          <a:prstGeom prst="roundRect">
            <a:avLst>
              <a:gd name="adj" fmla="val 19311"/>
            </a:avLst>
          </a:prstGeom>
          <a:noFill/>
          <a:ln w="4763">
            <a:solidFill>
              <a:srgbClr val="B6A062"/>
            </a:solidFill>
            <a:prstDash val="solid"/>
          </a:ln>
        </p:spPr>
        <p:txBody>
          <a:bodyPr/>
          <a:lstStyle/>
          <a:p>
            <a:endParaRPr lang="fr-FR"/>
          </a:p>
        </p:txBody>
      </p:sp>
      <p:sp>
        <p:nvSpPr>
          <p:cNvPr id="3" name="Text 1"/>
          <p:cNvSpPr/>
          <p:nvPr/>
        </p:nvSpPr>
        <p:spPr>
          <a:xfrm>
            <a:off x="1648123" y="337096"/>
            <a:ext cx="1116509" cy="88999"/>
          </a:xfrm>
          <a:prstGeom prst="rect">
            <a:avLst/>
          </a:prstGeom>
          <a:noFill/>
          <a:ln/>
        </p:spPr>
        <p:txBody>
          <a:bodyPr wrap="none" lIns="0" tIns="0" rIns="0" bIns="0" rtlCol="0" anchor="t"/>
          <a:lstStyle/>
          <a:p>
            <a:pPr marL="0" indent="0" algn="l">
              <a:lnSpc>
                <a:spcPct val="107000"/>
              </a:lnSpc>
              <a:buNone/>
            </a:pPr>
            <a:r>
              <a:rPr lang="en-US" sz="500" dirty="0">
                <a:solidFill>
                  <a:srgbClr val="B6A062"/>
                </a:solidFill>
                <a:latin typeface="DM Sans" pitchFamily="34" charset="0"/>
                <a:ea typeface="DM Sans" pitchFamily="34" charset="-122"/>
                <a:cs typeface="DM Sans" pitchFamily="34" charset="-120"/>
              </a:rPr>
              <a:t>INVESTIR À MAURICE</a:t>
            </a:r>
            <a:endParaRPr lang="en-US" sz="500" dirty="0"/>
          </a:p>
        </p:txBody>
      </p:sp>
      <p:sp>
        <p:nvSpPr>
          <p:cNvPr id="4" name="Text 2"/>
          <p:cNvSpPr/>
          <p:nvPr/>
        </p:nvSpPr>
        <p:spPr>
          <a:xfrm>
            <a:off x="2872085" y="477738"/>
            <a:ext cx="3171155" cy="215950"/>
          </a:xfrm>
          <a:prstGeom prst="rect">
            <a:avLst/>
          </a:prstGeom>
          <a:noFill/>
          <a:ln/>
        </p:spPr>
        <p:txBody>
          <a:bodyPr wrap="none" lIns="0" tIns="0" rIns="0" bIns="0" rtlCol="0" anchor="t"/>
          <a:lstStyle/>
          <a:p>
            <a:pPr marL="0" indent="0" algn="ctr">
              <a:lnSpc>
                <a:spcPct val="104000"/>
              </a:lnSpc>
              <a:buNone/>
            </a:pPr>
            <a:r>
              <a:rPr lang="en-US" sz="1350" dirty="0">
                <a:solidFill>
                  <a:srgbClr val="5C4E3D"/>
                </a:solidFill>
                <a:latin typeface="Libre Baskerville" pitchFamily="34" charset="0"/>
                <a:ea typeface="Libre Baskerville" pitchFamily="34" charset="-122"/>
                <a:cs typeface="Libre Baskerville" pitchFamily="34" charset="-120"/>
              </a:rPr>
              <a:t>Ressources &amp; Informations Utiles</a:t>
            </a:r>
            <a:endParaRPr lang="en-US" sz="1350" dirty="0"/>
          </a:p>
        </p:txBody>
      </p:sp>
      <p:sp>
        <p:nvSpPr>
          <p:cNvPr id="5" name="Text 3"/>
          <p:cNvSpPr/>
          <p:nvPr/>
        </p:nvSpPr>
        <p:spPr>
          <a:xfrm>
            <a:off x="1362968" y="772641"/>
            <a:ext cx="6189464" cy="111175"/>
          </a:xfrm>
          <a:prstGeom prst="rect">
            <a:avLst/>
          </a:prstGeom>
          <a:noFill/>
          <a:ln/>
        </p:spPr>
        <p:txBody>
          <a:bodyPr wrap="none" lIns="0" tIns="0" rIns="0" bIns="0" rtlCol="0" anchor="t"/>
          <a:lstStyle/>
          <a:p>
            <a:pPr marL="0" indent="0" algn="ctr">
              <a:lnSpc>
                <a:spcPct val="107000"/>
              </a:lnSpc>
              <a:buNone/>
            </a:pPr>
            <a:r>
              <a:rPr lang="en-US" sz="650" dirty="0">
                <a:solidFill>
                  <a:srgbClr val="454240"/>
                </a:solidFill>
                <a:latin typeface="DM Sans" pitchFamily="34" charset="0"/>
                <a:ea typeface="DM Sans" pitchFamily="34" charset="-122"/>
                <a:cs typeface="DM Sans" pitchFamily="34" charset="-120"/>
              </a:rPr>
              <a:t>Retrouvez ci-dessous nos guides et informations pour vous aider à prendre les meilleures décisions dans votre projet immobilier à l'île Maurice.</a:t>
            </a:r>
            <a:endParaRPr lang="en-US" sz="6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1568" y="942975"/>
            <a:ext cx="215950" cy="215950"/>
          </a:xfrm>
          <a:prstGeom prst="rect">
            <a:avLst/>
          </a:prstGeom>
        </p:spPr>
      </p:pic>
      <p:sp>
        <p:nvSpPr>
          <p:cNvPr id="7" name="Text 4"/>
          <p:cNvSpPr/>
          <p:nvPr/>
        </p:nvSpPr>
        <p:spPr>
          <a:xfrm>
            <a:off x="1591568" y="1224707"/>
            <a:ext cx="1743298" cy="134913"/>
          </a:xfrm>
          <a:prstGeom prst="rect">
            <a:avLst/>
          </a:prstGeom>
          <a:noFill/>
          <a:ln/>
        </p:spPr>
        <p:txBody>
          <a:bodyPr wrap="none" lIns="0" tIns="0" rIns="0" bIns="0" rtlCol="0" anchor="t"/>
          <a:lstStyle/>
          <a:p>
            <a:pPr marL="0" indent="0" algn="l">
              <a:lnSpc>
                <a:spcPct val="104000"/>
              </a:lnSpc>
              <a:buNone/>
            </a:pPr>
            <a:r>
              <a:rPr lang="en-US" sz="850" dirty="0">
                <a:solidFill>
                  <a:srgbClr val="454240"/>
                </a:solidFill>
                <a:latin typeface="Libre Baskerville" pitchFamily="34" charset="0"/>
                <a:ea typeface="Libre Baskerville" pitchFamily="34" charset="-122"/>
                <a:cs typeface="Libre Baskerville" pitchFamily="34" charset="-120"/>
              </a:rPr>
              <a:t>Guide d'Investissement</a:t>
            </a:r>
            <a:endParaRPr lang="en-US" sz="850" dirty="0"/>
          </a:p>
        </p:txBody>
      </p:sp>
      <p:sp>
        <p:nvSpPr>
          <p:cNvPr id="8" name="Text 5"/>
          <p:cNvSpPr/>
          <p:nvPr/>
        </p:nvSpPr>
        <p:spPr>
          <a:xfrm>
            <a:off x="1591568" y="1391171"/>
            <a:ext cx="1943100" cy="555873"/>
          </a:xfrm>
          <a:prstGeom prst="rect">
            <a:avLst/>
          </a:prstGeom>
          <a:noFill/>
          <a:ln/>
        </p:spPr>
        <p:txBody>
          <a:bodyPr wrap="square" lIns="0" tIns="0" rIns="0" bIns="0" rtlCol="0" anchor="t">
            <a:normAutofit/>
          </a:bodyPr>
          <a:lstStyle/>
          <a:p>
            <a:pPr marL="0" indent="0" algn="l">
              <a:lnSpc>
                <a:spcPct val="107000"/>
              </a:lnSpc>
              <a:buNone/>
            </a:pPr>
            <a:r>
              <a:rPr lang="en-US" sz="650" dirty="0">
                <a:solidFill>
                  <a:srgbClr val="454240"/>
                </a:solidFill>
                <a:latin typeface="DM Sans" pitchFamily="34" charset="0"/>
                <a:ea typeface="DM Sans" pitchFamily="34" charset="-122"/>
                <a:cs typeface="DM Sans" pitchFamily="34" charset="-120"/>
              </a:rPr>
              <a:t>Téléchargez notre guide complet pour investisseurs étrangers : cadre légal, dispositifs PDS/IRS, fiscalité, démarches administratives et conseils pratiques pour réussir votre acquisition à Maurice.</a:t>
            </a:r>
            <a:endParaRPr lang="en-US" sz="6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0450" y="942975"/>
            <a:ext cx="215950" cy="215950"/>
          </a:xfrm>
          <a:prstGeom prst="rect">
            <a:avLst/>
          </a:prstGeom>
        </p:spPr>
      </p:pic>
      <p:sp>
        <p:nvSpPr>
          <p:cNvPr id="10" name="Text 6"/>
          <p:cNvSpPr/>
          <p:nvPr/>
        </p:nvSpPr>
        <p:spPr>
          <a:xfrm>
            <a:off x="3600450" y="1224707"/>
            <a:ext cx="1679749" cy="134913"/>
          </a:xfrm>
          <a:prstGeom prst="rect">
            <a:avLst/>
          </a:prstGeom>
          <a:noFill/>
          <a:ln/>
        </p:spPr>
        <p:txBody>
          <a:bodyPr wrap="none" lIns="0" tIns="0" rIns="0" bIns="0" rtlCol="0" anchor="t"/>
          <a:lstStyle/>
          <a:p>
            <a:pPr marL="0" indent="0" algn="l">
              <a:lnSpc>
                <a:spcPct val="104000"/>
              </a:lnSpc>
              <a:buNone/>
            </a:pPr>
            <a:r>
              <a:rPr lang="en-US" sz="850" dirty="0">
                <a:solidFill>
                  <a:srgbClr val="454240"/>
                </a:solidFill>
                <a:latin typeface="Libre Baskerville" pitchFamily="34" charset="0"/>
                <a:ea typeface="Libre Baskerville" pitchFamily="34" charset="-122"/>
                <a:cs typeface="Libre Baskerville" pitchFamily="34" charset="-120"/>
              </a:rPr>
              <a:t>Baromètre du Marché</a:t>
            </a:r>
            <a:endParaRPr lang="en-US" sz="850" dirty="0"/>
          </a:p>
        </p:txBody>
      </p:sp>
      <p:sp>
        <p:nvSpPr>
          <p:cNvPr id="11" name="Text 7"/>
          <p:cNvSpPr/>
          <p:nvPr/>
        </p:nvSpPr>
        <p:spPr>
          <a:xfrm>
            <a:off x="3600450" y="1391171"/>
            <a:ext cx="1943100" cy="555873"/>
          </a:xfrm>
          <a:prstGeom prst="rect">
            <a:avLst/>
          </a:prstGeom>
          <a:noFill/>
          <a:ln/>
        </p:spPr>
        <p:txBody>
          <a:bodyPr wrap="square" lIns="0" tIns="0" rIns="0" bIns="0" rtlCol="0" anchor="t">
            <a:normAutofit/>
          </a:bodyPr>
          <a:lstStyle/>
          <a:p>
            <a:pPr marL="0" indent="0" algn="l">
              <a:lnSpc>
                <a:spcPct val="107000"/>
              </a:lnSpc>
              <a:buNone/>
            </a:pPr>
            <a:r>
              <a:rPr lang="en-US" sz="650" dirty="0">
                <a:solidFill>
                  <a:srgbClr val="454240"/>
                </a:solidFill>
                <a:latin typeface="DM Sans" pitchFamily="34" charset="0"/>
                <a:ea typeface="DM Sans" pitchFamily="34" charset="-122"/>
                <a:cs typeface="DM Sans" pitchFamily="34" charset="-120"/>
              </a:rPr>
              <a:t>Consultez notre analyse trimestrielle des prix de l'immobilier par région à Maurice. Prix au m², tendances, zones en forte demande et projections à moyen terme pour orienter vos décisions d'investissement.</a:t>
            </a:r>
            <a:endParaRPr lang="en-US" sz="6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09332" y="942975"/>
            <a:ext cx="215950" cy="215950"/>
          </a:xfrm>
          <a:prstGeom prst="rect">
            <a:avLst/>
          </a:prstGeom>
        </p:spPr>
      </p:pic>
      <p:sp>
        <p:nvSpPr>
          <p:cNvPr id="13" name="Text 8"/>
          <p:cNvSpPr/>
          <p:nvPr/>
        </p:nvSpPr>
        <p:spPr>
          <a:xfrm>
            <a:off x="5609332" y="1224707"/>
            <a:ext cx="1809527" cy="134913"/>
          </a:xfrm>
          <a:prstGeom prst="rect">
            <a:avLst/>
          </a:prstGeom>
          <a:noFill/>
          <a:ln/>
        </p:spPr>
        <p:txBody>
          <a:bodyPr wrap="none" lIns="0" tIns="0" rIns="0" bIns="0" rtlCol="0" anchor="t"/>
          <a:lstStyle/>
          <a:p>
            <a:pPr marL="0" indent="0" algn="l">
              <a:lnSpc>
                <a:spcPct val="104000"/>
              </a:lnSpc>
              <a:buNone/>
            </a:pPr>
            <a:r>
              <a:rPr lang="en-US" sz="850" dirty="0">
                <a:solidFill>
                  <a:srgbClr val="454240"/>
                </a:solidFill>
                <a:latin typeface="Libre Baskerville" pitchFamily="34" charset="0"/>
                <a:ea typeface="Libre Baskerville" pitchFamily="34" charset="-122"/>
                <a:cs typeface="Libre Baskerville" pitchFamily="34" charset="-120"/>
              </a:rPr>
              <a:t>Étapes d'une Acquisition</a:t>
            </a:r>
            <a:endParaRPr lang="en-US" sz="850" dirty="0"/>
          </a:p>
        </p:txBody>
      </p:sp>
      <p:sp>
        <p:nvSpPr>
          <p:cNvPr id="14" name="Text 9"/>
          <p:cNvSpPr/>
          <p:nvPr/>
        </p:nvSpPr>
        <p:spPr>
          <a:xfrm>
            <a:off x="5609332" y="1391171"/>
            <a:ext cx="1943100" cy="555873"/>
          </a:xfrm>
          <a:prstGeom prst="rect">
            <a:avLst/>
          </a:prstGeom>
          <a:noFill/>
          <a:ln/>
        </p:spPr>
        <p:txBody>
          <a:bodyPr wrap="square" lIns="0" tIns="0" rIns="0" bIns="0" rtlCol="0" anchor="t">
            <a:normAutofit/>
          </a:bodyPr>
          <a:lstStyle/>
          <a:p>
            <a:pPr marL="0" indent="0" algn="l">
              <a:lnSpc>
                <a:spcPct val="107000"/>
              </a:lnSpc>
              <a:buNone/>
            </a:pPr>
            <a:r>
              <a:rPr lang="en-US" sz="650" dirty="0">
                <a:solidFill>
                  <a:srgbClr val="454240"/>
                </a:solidFill>
                <a:latin typeface="DM Sans" pitchFamily="34" charset="0"/>
                <a:ea typeface="DM Sans" pitchFamily="34" charset="-122"/>
                <a:cs typeface="DM Sans" pitchFamily="34" charset="-120"/>
              </a:rPr>
              <a:t>De la promesse de vente à l'acte notarié, découvrez en détail toutes les étapes d'un achat immobilier à Maurice, les délais à prévoir et les professionnels à solliciter pour sécuriser votre transaction.</a:t>
            </a:r>
            <a:endParaRPr lang="en-US" sz="650" dirty="0"/>
          </a:p>
        </p:txBody>
      </p:sp>
      <p:pic>
        <p:nvPicPr>
          <p:cNvPr id="15" name="Image 3" descr="preencoded.png"/>
          <p:cNvPicPr>
            <a:picLocks noChangeAspect="1"/>
          </p:cNvPicPr>
          <p:nvPr/>
        </p:nvPicPr>
        <p:blipFill>
          <a:blip r:embed="rId6"/>
          <a:stretch>
            <a:fillRect/>
          </a:stretch>
        </p:blipFill>
        <p:spPr>
          <a:xfrm>
            <a:off x="1616125" y="2006203"/>
            <a:ext cx="5911676" cy="2549277"/>
          </a:xfrm>
          <a:prstGeom prst="rect">
            <a:avLst/>
          </a:prstGeom>
        </p:spPr>
      </p:pic>
      <p:sp>
        <p:nvSpPr>
          <p:cNvPr id="16" name="Text 10"/>
          <p:cNvSpPr/>
          <p:nvPr/>
        </p:nvSpPr>
        <p:spPr>
          <a:xfrm>
            <a:off x="2013893" y="4072042"/>
            <a:ext cx="1798374" cy="16764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Livraison &amp; Suivi</a:t>
            </a:r>
            <a:endParaRPr lang="en-US" sz="1050" dirty="0"/>
          </a:p>
        </p:txBody>
      </p:sp>
      <p:sp>
        <p:nvSpPr>
          <p:cNvPr id="17" name="Text 11"/>
          <p:cNvSpPr/>
          <p:nvPr/>
        </p:nvSpPr>
        <p:spPr>
          <a:xfrm>
            <a:off x="2013893" y="3481925"/>
            <a:ext cx="2089148" cy="16764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Démarches &amp; Signature</a:t>
            </a:r>
            <a:endParaRPr lang="en-US" sz="1050" dirty="0"/>
          </a:p>
        </p:txBody>
      </p:sp>
      <p:sp>
        <p:nvSpPr>
          <p:cNvPr id="18" name="Text 12"/>
          <p:cNvSpPr/>
          <p:nvPr/>
        </p:nvSpPr>
        <p:spPr>
          <a:xfrm>
            <a:off x="2013893" y="2897770"/>
            <a:ext cx="2191505" cy="16764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Sélection &amp; Financement</a:t>
            </a:r>
            <a:endParaRPr lang="en-US" sz="1050" dirty="0"/>
          </a:p>
        </p:txBody>
      </p:sp>
      <p:sp>
        <p:nvSpPr>
          <p:cNvPr id="19" name="Text 13"/>
          <p:cNvSpPr/>
          <p:nvPr/>
        </p:nvSpPr>
        <p:spPr>
          <a:xfrm>
            <a:off x="2013893" y="2307653"/>
            <a:ext cx="2261637" cy="16764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ibre Baskerville" pitchFamily="34" charset="0"/>
                <a:ea typeface="Libre Baskerville" pitchFamily="34" charset="-122"/>
                <a:cs typeface="Libre Baskerville" pitchFamily="34" charset="-120"/>
              </a:rPr>
              <a:t>Consultation &amp; Recherche</a:t>
            </a:r>
            <a:endParaRPr lang="en-US" sz="1050" dirty="0"/>
          </a:p>
        </p:txBody>
      </p:sp>
      <p:sp>
        <p:nvSpPr>
          <p:cNvPr id="20" name="Text 14"/>
          <p:cNvSpPr/>
          <p:nvPr/>
        </p:nvSpPr>
        <p:spPr>
          <a:xfrm>
            <a:off x="1591568" y="4614639"/>
            <a:ext cx="5960864" cy="222349"/>
          </a:xfrm>
          <a:prstGeom prst="rect">
            <a:avLst/>
          </a:prstGeom>
          <a:noFill/>
          <a:ln/>
        </p:spPr>
        <p:txBody>
          <a:bodyPr wrap="square" lIns="0" tIns="0" rIns="0" bIns="0" rtlCol="0" anchor="t">
            <a:normAutofit/>
          </a:bodyPr>
          <a:lstStyle/>
          <a:p>
            <a:pPr marL="0" indent="0" algn="ctr">
              <a:lnSpc>
                <a:spcPct val="107000"/>
              </a:lnSpc>
              <a:buNone/>
            </a:pPr>
            <a:r>
              <a:rPr lang="en-US" sz="650" dirty="0">
                <a:solidFill>
                  <a:srgbClr val="454240"/>
                </a:solidFill>
                <a:latin typeface="DM Sans" pitchFamily="34" charset="0"/>
                <a:ea typeface="DM Sans" pitchFamily="34" charset="-122"/>
                <a:cs typeface="DM Sans" pitchFamily="34" charset="-120"/>
              </a:rPr>
              <a:t>Notre processus d'accompagnement est conçu pour simplifier chaque étape de votre projet immobilier, de la première consultation jusqu'à la remise des clés.</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125093" y="387772"/>
            <a:ext cx="2665214" cy="304502"/>
          </a:xfrm>
          <a:prstGeom prst="rect">
            <a:avLst/>
          </a:prstGeom>
          <a:noFill/>
          <a:ln/>
        </p:spPr>
        <p:txBody>
          <a:bodyPr wrap="none" lIns="0" tIns="0" rIns="0" bIns="0" rtlCol="0" anchor="t"/>
          <a:lstStyle/>
          <a:p>
            <a:pPr marL="0" indent="0" algn="ctr">
              <a:lnSpc>
                <a:spcPct val="104000"/>
              </a:lnSpc>
              <a:buNone/>
            </a:pPr>
            <a:r>
              <a:rPr lang="en-US" sz="1900" dirty="0">
                <a:solidFill>
                  <a:srgbClr val="FFFFFF"/>
                </a:solidFill>
                <a:latin typeface="Libre Baskerville" pitchFamily="34" charset="0"/>
                <a:ea typeface="Libre Baskerville" pitchFamily="34" charset="-122"/>
                <a:cs typeface="Libre Baskerville" pitchFamily="34" charset="-120"/>
              </a:rPr>
              <a:t>Contactez-nous</a:t>
            </a:r>
            <a:endParaRPr lang="en-US" sz="1900" dirty="0"/>
          </a:p>
        </p:txBody>
      </p:sp>
      <p:sp>
        <p:nvSpPr>
          <p:cNvPr id="3" name="Text 1"/>
          <p:cNvSpPr/>
          <p:nvPr/>
        </p:nvSpPr>
        <p:spPr>
          <a:xfrm>
            <a:off x="197793" y="901601"/>
            <a:ext cx="8519815" cy="181198"/>
          </a:xfrm>
          <a:prstGeom prst="rect">
            <a:avLst/>
          </a:prstGeom>
          <a:noFill/>
          <a:ln/>
        </p:spPr>
        <p:txBody>
          <a:bodyPr wrap="none" lIns="0" tIns="0" rIns="0" bIns="0" rtlCol="0" anchor="t"/>
          <a:lstStyle/>
          <a:p>
            <a:pPr marL="0" indent="0" algn="ctr">
              <a:lnSpc>
                <a:spcPct val="124000"/>
              </a:lnSpc>
              <a:buNone/>
            </a:pPr>
            <a:r>
              <a:rPr lang="en-US" sz="950" dirty="0">
                <a:solidFill>
                  <a:srgbClr val="FFFFFF"/>
                </a:solidFill>
                <a:latin typeface="DM Sans" pitchFamily="34" charset="0"/>
                <a:ea typeface="DM Sans" pitchFamily="34" charset="-122"/>
                <a:cs typeface="DM Sans" pitchFamily="34" charset="-120"/>
              </a:rPr>
              <a:t>Notre équipe est à votre disposition pour répondre à toutes vos questions et vous accompagner dans votre projet immobilier à l'île Maurice.</a:t>
            </a:r>
            <a:endParaRPr lang="en-US" sz="950" dirty="0"/>
          </a:p>
        </p:txBody>
      </p:sp>
      <p:sp>
        <p:nvSpPr>
          <p:cNvPr id="4" name="Text 2"/>
          <p:cNvSpPr/>
          <p:nvPr/>
        </p:nvSpPr>
        <p:spPr>
          <a:xfrm>
            <a:off x="426393" y="1305148"/>
            <a:ext cx="1980084" cy="190351"/>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ibre Baskerville" pitchFamily="34" charset="0"/>
                <a:ea typeface="Libre Baskerville" pitchFamily="34" charset="-122"/>
                <a:cs typeface="Libre Baskerville" pitchFamily="34" charset="-120"/>
              </a:rPr>
              <a:t>📍</a:t>
            </a:r>
            <a:r>
              <a:rPr lang="en-US" sz="1150" dirty="0">
                <a:solidFill>
                  <a:srgbClr val="FFFFFF"/>
                </a:solidFill>
                <a:latin typeface="Libre Baskerville" pitchFamily="34" charset="0"/>
                <a:ea typeface="Libre Baskerville" pitchFamily="34" charset="-122"/>
                <a:cs typeface="Libre Baskerville" pitchFamily="34" charset="-120"/>
              </a:rPr>
              <a:t> Adresse</a:t>
            </a:r>
            <a:endParaRPr lang="en-US" sz="1150" dirty="0"/>
          </a:p>
        </p:txBody>
      </p:sp>
      <p:sp>
        <p:nvSpPr>
          <p:cNvPr id="5" name="Text 3"/>
          <p:cNvSpPr/>
          <p:nvPr/>
        </p:nvSpPr>
        <p:spPr>
          <a:xfrm>
            <a:off x="426393" y="1600126"/>
            <a:ext cx="3997003"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FFFFFF"/>
                </a:solidFill>
                <a:latin typeface="DM Sans" pitchFamily="34" charset="0"/>
                <a:ea typeface="DM Sans" pitchFamily="34" charset="-122"/>
                <a:cs typeface="DM Sans" pitchFamily="34" charset="-120"/>
              </a:rPr>
              <a:t>Port-Louis, Île Maurice</a:t>
            </a:r>
            <a:endParaRPr lang="en-US" sz="950" dirty="0"/>
          </a:p>
          <a:p>
            <a:pPr marL="0" indent="0" algn="l">
              <a:lnSpc>
                <a:spcPct val="124000"/>
              </a:lnSpc>
              <a:buNone/>
            </a:pPr>
            <a:r>
              <a:rPr lang="en-US" sz="950" dirty="0">
                <a:solidFill>
                  <a:srgbClr val="FFFFFF"/>
                </a:solidFill>
                <a:latin typeface="DM Sans" pitchFamily="34" charset="0"/>
                <a:ea typeface="DM Sans" pitchFamily="34" charset="-122"/>
                <a:cs typeface="DM Sans" pitchFamily="34" charset="-120"/>
              </a:rPr>
              <a:t>Disponibles dans toutes les régions de l'île</a:t>
            </a:r>
            <a:endParaRPr lang="en-US" sz="950" dirty="0"/>
          </a:p>
        </p:txBody>
      </p:sp>
      <p:sp>
        <p:nvSpPr>
          <p:cNvPr id="6" name="Text 4"/>
          <p:cNvSpPr/>
          <p:nvPr/>
        </p:nvSpPr>
        <p:spPr>
          <a:xfrm>
            <a:off x="426393" y="2067148"/>
            <a:ext cx="2552551" cy="190351"/>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ibre Baskerville" pitchFamily="34" charset="0"/>
                <a:ea typeface="Libre Baskerville" pitchFamily="34" charset="-122"/>
                <a:cs typeface="Libre Baskerville" pitchFamily="34" charset="-120"/>
              </a:rPr>
              <a:t>📞</a:t>
            </a:r>
            <a:r>
              <a:rPr lang="en-US" sz="1150" dirty="0">
                <a:solidFill>
                  <a:srgbClr val="FFFFFF"/>
                </a:solidFill>
                <a:latin typeface="Libre Baskerville" pitchFamily="34" charset="0"/>
                <a:ea typeface="Libre Baskerville" pitchFamily="34" charset="-122"/>
                <a:cs typeface="Libre Baskerville" pitchFamily="34" charset="-120"/>
              </a:rPr>
              <a:t> Téléphone &amp; WhatsApp</a:t>
            </a:r>
            <a:endParaRPr lang="en-US" sz="1150" dirty="0"/>
          </a:p>
        </p:txBody>
      </p:sp>
      <p:sp>
        <p:nvSpPr>
          <p:cNvPr id="7" name="Text 5"/>
          <p:cNvSpPr/>
          <p:nvPr/>
        </p:nvSpPr>
        <p:spPr>
          <a:xfrm>
            <a:off x="426393" y="2362126"/>
            <a:ext cx="3997003"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FFFFFF"/>
                </a:solidFill>
                <a:latin typeface="DM Sans" pitchFamily="34" charset="0"/>
                <a:ea typeface="DM Sans" pitchFamily="34" charset="-122"/>
                <a:cs typeface="DM Sans" pitchFamily="34" charset="-120"/>
              </a:rPr>
              <a:t>+230 XXX XXXX</a:t>
            </a:r>
            <a:endParaRPr lang="en-US" sz="950" dirty="0"/>
          </a:p>
          <a:p>
            <a:pPr marL="0" indent="0" algn="l">
              <a:lnSpc>
                <a:spcPct val="124000"/>
              </a:lnSpc>
              <a:buNone/>
            </a:pPr>
            <a:r>
              <a:rPr lang="en-US" sz="950" dirty="0">
                <a:solidFill>
                  <a:srgbClr val="FFFFFF"/>
                </a:solidFill>
                <a:latin typeface="DM Sans" pitchFamily="34" charset="0"/>
                <a:ea typeface="DM Sans" pitchFamily="34" charset="-122"/>
                <a:cs typeface="DM Sans" pitchFamily="34" charset="-120"/>
              </a:rPr>
              <a:t>Disponible du lundi au samedi, 8h–18h</a:t>
            </a:r>
            <a:endParaRPr lang="en-US" sz="950" dirty="0"/>
          </a:p>
        </p:txBody>
      </p:sp>
      <p:sp>
        <p:nvSpPr>
          <p:cNvPr id="8" name="Text 6"/>
          <p:cNvSpPr/>
          <p:nvPr/>
        </p:nvSpPr>
        <p:spPr>
          <a:xfrm>
            <a:off x="426393" y="2829148"/>
            <a:ext cx="1980084" cy="190351"/>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ibre Baskerville" pitchFamily="34" charset="0"/>
                <a:ea typeface="Libre Baskerville" pitchFamily="34" charset="-122"/>
                <a:cs typeface="Libre Baskerville" pitchFamily="34" charset="-120"/>
              </a:rPr>
              <a:t>✉️</a:t>
            </a:r>
            <a:r>
              <a:rPr lang="en-US" sz="1150" dirty="0">
                <a:solidFill>
                  <a:srgbClr val="FFFFFF"/>
                </a:solidFill>
                <a:latin typeface="Libre Baskerville" pitchFamily="34" charset="0"/>
                <a:ea typeface="Libre Baskerville" pitchFamily="34" charset="-122"/>
                <a:cs typeface="Libre Baskerville" pitchFamily="34" charset="-120"/>
              </a:rPr>
              <a:t> Email</a:t>
            </a:r>
            <a:endParaRPr lang="en-US" sz="1150" dirty="0"/>
          </a:p>
        </p:txBody>
      </p:sp>
      <p:sp>
        <p:nvSpPr>
          <p:cNvPr id="9" name="Text 7"/>
          <p:cNvSpPr/>
          <p:nvPr/>
        </p:nvSpPr>
        <p:spPr>
          <a:xfrm>
            <a:off x="426393" y="3124126"/>
            <a:ext cx="3997003"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FFFFFF"/>
                </a:solidFill>
                <a:latin typeface="DM Sans" pitchFamily="34" charset="0"/>
                <a:ea typeface="DM Sans" pitchFamily="34" charset="-122"/>
                <a:cs typeface="DM Sans" pitchFamily="34" charset="-120"/>
              </a:rPr>
              <a:t>efieldimmo@gmail</a:t>
            </a:r>
            <a:endParaRPr lang="en-US" sz="950" dirty="0"/>
          </a:p>
          <a:p>
            <a:pPr marL="0" indent="0" algn="l">
              <a:lnSpc>
                <a:spcPct val="124000"/>
              </a:lnSpc>
              <a:buNone/>
            </a:pPr>
            <a:r>
              <a:rPr lang="en-US" sz="950" dirty="0">
                <a:solidFill>
                  <a:srgbClr val="FFFFFF"/>
                </a:solidFill>
                <a:latin typeface="DM Sans" pitchFamily="34" charset="0"/>
                <a:ea typeface="DM Sans" pitchFamily="34" charset="-122"/>
                <a:cs typeface="DM Sans" pitchFamily="34" charset="-120"/>
              </a:rPr>
              <a:t>Réponse garantie sous 24h ouvrées</a:t>
            </a:r>
            <a:endParaRPr lang="en-US" sz="950" dirty="0"/>
          </a:p>
        </p:txBody>
      </p:sp>
      <p:sp>
        <p:nvSpPr>
          <p:cNvPr id="10" name="Text 8"/>
          <p:cNvSpPr/>
          <p:nvPr/>
        </p:nvSpPr>
        <p:spPr>
          <a:xfrm>
            <a:off x="4725367" y="1305148"/>
            <a:ext cx="1980084" cy="190351"/>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ibre Baskerville" pitchFamily="34" charset="0"/>
                <a:ea typeface="Libre Baskerville" pitchFamily="34" charset="-122"/>
                <a:cs typeface="Libre Baskerville" pitchFamily="34" charset="-120"/>
              </a:rPr>
              <a:t>🔗</a:t>
            </a:r>
            <a:r>
              <a:rPr lang="en-US" sz="1150" dirty="0">
                <a:solidFill>
                  <a:srgbClr val="FFFFFF"/>
                </a:solidFill>
                <a:latin typeface="Libre Baskerville" pitchFamily="34" charset="0"/>
                <a:ea typeface="Libre Baskerville" pitchFamily="34" charset="-122"/>
                <a:cs typeface="Libre Baskerville" pitchFamily="34" charset="-120"/>
              </a:rPr>
              <a:t> Liens Rapides</a:t>
            </a:r>
            <a:endParaRPr lang="en-US" sz="1150" dirty="0"/>
          </a:p>
        </p:txBody>
      </p:sp>
      <p:sp>
        <p:nvSpPr>
          <p:cNvPr id="11" name="Text 9"/>
          <p:cNvSpPr/>
          <p:nvPr/>
        </p:nvSpPr>
        <p:spPr>
          <a:xfrm>
            <a:off x="4725367" y="1600126"/>
            <a:ext cx="3997003" cy="1052438"/>
          </a:xfrm>
          <a:prstGeom prst="rect">
            <a:avLst/>
          </a:prstGeom>
          <a:noFill/>
          <a:ln/>
        </p:spPr>
        <p:txBody>
          <a:bodyPr wrap="square" lIns="0" tIns="0" rIns="0" bIns="0" rtlCol="0" anchor="t">
            <a:normAutofit/>
          </a:bodyPr>
          <a:lstStyle/>
          <a:p>
            <a:pPr marL="342900" indent="-342900" algn="l">
              <a:lnSpc>
                <a:spcPct val="124000"/>
              </a:lnSpc>
              <a:buSzPct val="100000"/>
              <a:buChar char="•"/>
            </a:pPr>
            <a:r>
              <a:rPr lang="en-US" sz="950" dirty="0">
                <a:solidFill>
                  <a:srgbClr val="FFFFFF"/>
                </a:solidFill>
                <a:latin typeface="DM Sans" pitchFamily="34" charset="0"/>
                <a:ea typeface="DM Sans" pitchFamily="34" charset="-122"/>
                <a:cs typeface="DM Sans" pitchFamily="34" charset="-120"/>
              </a:rPr>
              <a:t>Nos terrains disponibles</a:t>
            </a:r>
            <a:endParaRPr lang="en-US" sz="950" dirty="0"/>
          </a:p>
          <a:p>
            <a:pPr marL="342900" indent="-342900" algn="l">
              <a:lnSpc>
                <a:spcPct val="124000"/>
              </a:lnSpc>
              <a:buSzPct val="100000"/>
              <a:buChar char="•"/>
            </a:pPr>
            <a:r>
              <a:rPr lang="en-US" sz="950" dirty="0">
                <a:solidFill>
                  <a:srgbClr val="FFFFFF"/>
                </a:solidFill>
                <a:latin typeface="DM Sans" pitchFamily="34" charset="0"/>
                <a:ea typeface="DM Sans" pitchFamily="34" charset="-122"/>
                <a:cs typeface="DM Sans" pitchFamily="34" charset="-120"/>
              </a:rPr>
              <a:t>Nos services</a:t>
            </a:r>
            <a:endParaRPr lang="en-US" sz="950" dirty="0"/>
          </a:p>
          <a:p>
            <a:pPr marL="342900" indent="-342900" algn="l">
              <a:lnSpc>
                <a:spcPct val="124000"/>
              </a:lnSpc>
              <a:buSzPct val="100000"/>
              <a:buChar char="•"/>
            </a:pPr>
            <a:r>
              <a:rPr lang="en-US" sz="950" dirty="0">
                <a:solidFill>
                  <a:srgbClr val="FFFFFF"/>
                </a:solidFill>
                <a:latin typeface="DM Sans" pitchFamily="34" charset="0"/>
                <a:ea typeface="DM Sans" pitchFamily="34" charset="-122"/>
                <a:cs typeface="DM Sans" pitchFamily="34" charset="-120"/>
              </a:rPr>
              <a:t>Guide investisseur étranger</a:t>
            </a:r>
            <a:endParaRPr lang="en-US" sz="950" dirty="0"/>
          </a:p>
          <a:p>
            <a:pPr marL="342900" indent="-342900" algn="l">
              <a:lnSpc>
                <a:spcPct val="124000"/>
              </a:lnSpc>
              <a:buSzPct val="100000"/>
              <a:buChar char="•"/>
            </a:pPr>
            <a:r>
              <a:rPr lang="en-US" sz="950" dirty="0">
                <a:solidFill>
                  <a:srgbClr val="FFFFFF"/>
                </a:solidFill>
                <a:latin typeface="DM Sans" pitchFamily="34" charset="0"/>
                <a:ea typeface="DM Sans" pitchFamily="34" charset="-122"/>
                <a:cs typeface="DM Sans" pitchFamily="34" charset="-120"/>
              </a:rPr>
              <a:t>Projets en cours</a:t>
            </a:r>
            <a:endParaRPr lang="en-US" sz="950" dirty="0"/>
          </a:p>
          <a:p>
            <a:pPr marL="342900" indent="-342900" algn="l">
              <a:lnSpc>
                <a:spcPct val="124000"/>
              </a:lnSpc>
              <a:buSzPct val="100000"/>
              <a:buChar char="•"/>
            </a:pPr>
            <a:r>
              <a:rPr lang="en-US" sz="950" dirty="0">
                <a:solidFill>
                  <a:srgbClr val="FFFFFF"/>
                </a:solidFill>
                <a:latin typeface="DM Sans" pitchFamily="34" charset="0"/>
                <a:ea typeface="DM Sans" pitchFamily="34" charset="-122"/>
                <a:cs typeface="DM Sans" pitchFamily="34" charset="-120"/>
              </a:rPr>
              <a:t>Témoignages clients</a:t>
            </a:r>
            <a:endParaRPr lang="en-US" sz="950" dirty="0"/>
          </a:p>
        </p:txBody>
      </p:sp>
      <p:sp>
        <p:nvSpPr>
          <p:cNvPr id="12" name="Text 10"/>
          <p:cNvSpPr/>
          <p:nvPr/>
        </p:nvSpPr>
        <p:spPr>
          <a:xfrm>
            <a:off x="4725367" y="2757190"/>
            <a:ext cx="1984251" cy="190351"/>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ibre Baskerville" pitchFamily="34" charset="0"/>
                <a:ea typeface="Libre Baskerville" pitchFamily="34" charset="-122"/>
                <a:cs typeface="Libre Baskerville" pitchFamily="34" charset="-120"/>
              </a:rPr>
              <a:t>📱</a:t>
            </a:r>
            <a:r>
              <a:rPr lang="en-US" sz="1150" dirty="0">
                <a:solidFill>
                  <a:srgbClr val="FFFFFF"/>
                </a:solidFill>
                <a:latin typeface="Libre Baskerville" pitchFamily="34" charset="0"/>
                <a:ea typeface="Libre Baskerville" pitchFamily="34" charset="-122"/>
                <a:cs typeface="Libre Baskerville" pitchFamily="34" charset="-120"/>
              </a:rPr>
              <a:t> Réseaux Sociaux</a:t>
            </a:r>
            <a:endParaRPr lang="en-US" sz="1150" dirty="0"/>
          </a:p>
        </p:txBody>
      </p:sp>
      <p:sp>
        <p:nvSpPr>
          <p:cNvPr id="13" name="Text 11"/>
          <p:cNvSpPr/>
          <p:nvPr/>
        </p:nvSpPr>
        <p:spPr>
          <a:xfrm>
            <a:off x="4725367" y="3052167"/>
            <a:ext cx="3997003"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FFFFFF"/>
                </a:solidFill>
                <a:latin typeface="DM Sans" pitchFamily="34" charset="0"/>
                <a:ea typeface="DM Sans" pitchFamily="34" charset="-122"/>
                <a:cs typeface="DM Sans" pitchFamily="34" charset="-120"/>
              </a:rPr>
              <a:t>Suivez-nous sur Facebook, Instagram, tiktok pour découvrir nos dernières opportunités, projets en cours et conseils immobiliers.</a:t>
            </a:r>
            <a:endParaRPr lang="en-US" sz="950" dirty="0"/>
          </a:p>
        </p:txBody>
      </p:sp>
      <p:sp>
        <p:nvSpPr>
          <p:cNvPr id="14" name="Text 12"/>
          <p:cNvSpPr/>
          <p:nvPr/>
        </p:nvSpPr>
        <p:spPr>
          <a:xfrm>
            <a:off x="4725367" y="3519190"/>
            <a:ext cx="2050926" cy="190351"/>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Libre Baskerville" pitchFamily="34" charset="0"/>
                <a:ea typeface="Libre Baskerville" pitchFamily="34" charset="-122"/>
                <a:cs typeface="Libre Baskerville" pitchFamily="34" charset="-120"/>
              </a:rPr>
              <a:t>⚖️</a:t>
            </a:r>
            <a:r>
              <a:rPr lang="en-US" sz="1150" dirty="0">
                <a:solidFill>
                  <a:srgbClr val="FFFFFF"/>
                </a:solidFill>
                <a:latin typeface="Libre Baskerville" pitchFamily="34" charset="0"/>
                <a:ea typeface="Libre Baskerville" pitchFamily="34" charset="-122"/>
                <a:cs typeface="Libre Baskerville" pitchFamily="34" charset="-120"/>
              </a:rPr>
              <a:t> Mentions Légales</a:t>
            </a:r>
            <a:endParaRPr lang="en-US" sz="1150" dirty="0"/>
          </a:p>
        </p:txBody>
      </p:sp>
      <p:sp>
        <p:nvSpPr>
          <p:cNvPr id="15" name="Text 13"/>
          <p:cNvSpPr/>
          <p:nvPr/>
        </p:nvSpPr>
        <p:spPr>
          <a:xfrm>
            <a:off x="4725367" y="3814167"/>
            <a:ext cx="3997003" cy="543595"/>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FFFFFF"/>
                </a:solidFill>
                <a:latin typeface="DM Sans" pitchFamily="34" charset="0"/>
                <a:ea typeface="DM Sans" pitchFamily="34" charset="-122"/>
                <a:cs typeface="DM Sans" pitchFamily="34" charset="-120"/>
              </a:rPr>
              <a:t>Agence immobilière agréée à l'île Maurice · Numéro de licence : XXXXXXX · Politique de confidentialité · Conditions générales d'utilisation</a:t>
            </a:r>
            <a:endParaRPr lang="en-US" sz="950" dirty="0"/>
          </a:p>
        </p:txBody>
      </p:sp>
      <p:sp>
        <p:nvSpPr>
          <p:cNvPr id="16" name="Text 14"/>
          <p:cNvSpPr/>
          <p:nvPr/>
        </p:nvSpPr>
        <p:spPr>
          <a:xfrm>
            <a:off x="197793" y="4569693"/>
            <a:ext cx="8519815" cy="185961"/>
          </a:xfrm>
          <a:prstGeom prst="rect">
            <a:avLst/>
          </a:prstGeom>
          <a:noFill/>
          <a:ln/>
        </p:spPr>
        <p:txBody>
          <a:bodyPr wrap="none" lIns="0" tIns="0" rIns="0" bIns="0" rtlCol="0" anchor="t"/>
          <a:lstStyle/>
          <a:p>
            <a:pPr marL="0" indent="0" algn="ctr">
              <a:lnSpc>
                <a:spcPct val="124000"/>
              </a:lnSpc>
              <a:buNone/>
            </a:pPr>
            <a:r>
              <a:rPr lang="en-US" sz="950" dirty="0">
                <a:solidFill>
                  <a:srgbClr val="000000"/>
                </a:solidFill>
                <a:latin typeface="DM Sans" pitchFamily="34" charset="0"/>
                <a:ea typeface="DM Sans" pitchFamily="34" charset="-122"/>
                <a:cs typeface="DM Sans" pitchFamily="34" charset="-120"/>
              </a:rPr>
              <a:t>©</a:t>
            </a:r>
            <a:r>
              <a:rPr lang="en-US" sz="950" i="1" dirty="0">
                <a:solidFill>
                  <a:srgbClr val="FFFFFF"/>
                </a:solidFill>
                <a:latin typeface="DM Sans" pitchFamily="34" charset="0"/>
                <a:ea typeface="DM Sans" pitchFamily="34" charset="-122"/>
                <a:cs typeface="DM Sans" pitchFamily="34" charset="-120"/>
              </a:rPr>
              <a:t> 2025 — Votre Agence Immobilière Maurice. Tous droits réservés. Conçu avec passion pour l'île Maurice.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439</TotalTime>
  <Words>1768</Words>
  <Application>Microsoft Office PowerPoint</Application>
  <PresentationFormat>Affichage à l'écran (16:9)</PresentationFormat>
  <Paragraphs>142</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Libre Baskerville</vt:lpstr>
      <vt:lpstr>DM Sans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Madhvi Jeebun</dc:creator>
  <cp:lastModifiedBy>Madhvi Jeebun</cp:lastModifiedBy>
  <cp:revision>2</cp:revision>
  <dcterms:created xsi:type="dcterms:W3CDTF">2026-05-19T20:45:12Z</dcterms:created>
  <dcterms:modified xsi:type="dcterms:W3CDTF">2026-08-06T16:03:19Z</dcterms:modified>
</cp:coreProperties>
</file>